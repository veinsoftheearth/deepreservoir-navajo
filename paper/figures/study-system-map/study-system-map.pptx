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563475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C15"/>
    <a:srgbClr val="36B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872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713D-980F-4408-E5F1-17338B1E4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0435" y="1496484"/>
            <a:ext cx="9422606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A39C0-764C-D9EC-A90C-79343C7E9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0435" y="4802717"/>
            <a:ext cx="9422606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C95A1-5905-05FC-6909-2637BAA6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25C3D-AB7A-709C-D4D1-1DD2E5D4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05816-531D-CD43-0FB6-1355DC4B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9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5582-FFD5-7F3D-DDAD-9A2951ECA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E8792-BE3F-EFEC-A753-0D8D6F88B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65BE0-92A1-F4C3-624A-5C48FF76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1E4FE-E26F-BB21-037A-7EC9667D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23761-F584-22AA-7F99-A38E7D6E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4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3922-BAB5-E078-3D05-887886C36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197" y="2279653"/>
            <a:ext cx="10835997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6A769-6CF2-9691-1CFA-F9859AF51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197" y="6119286"/>
            <a:ext cx="10835997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DB5E9-496A-CE8B-DE45-59AE3B2D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ABCC0-E18B-AD5F-166D-050DFDE5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8313A-D68B-F3BD-AC85-B3AE65109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4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79A8-EA01-3DFF-CB08-45888081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021F4-0C3D-0252-ADD5-25D2D4BB9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3740" y="2434167"/>
            <a:ext cx="5339477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94B34-920D-96E8-C707-D63FDFD94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0260" y="2434167"/>
            <a:ext cx="5339477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F2E9A-7829-60A8-EF32-FF3BF8A4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8F876-8A2F-BF4D-2011-723DD896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965D7-7231-E020-F175-50AC7808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28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D11E-E6E9-916B-0CCE-62D305A40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376" y="486836"/>
            <a:ext cx="10835997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81891-1067-D72E-85D9-8372825C4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376" y="2241551"/>
            <a:ext cx="531493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6A630-2A71-583F-7DB1-983BDE388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5376" y="3340100"/>
            <a:ext cx="531493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1F927-FE0C-E7E2-86B5-D97D1A788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0260" y="2241551"/>
            <a:ext cx="5341113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39E64-548D-49FA-B3F0-FF918A877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0260" y="3340100"/>
            <a:ext cx="534111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576789-4275-852A-6BEB-9B7ABEB53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EC750-B266-D872-1E82-E5E83ECA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CF6D0-C24E-2833-1A14-607FA276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90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94D2-2F1A-72A7-1E88-C98C2C13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25E36-CFDC-00E9-2AC7-A7894F2E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B2626-644C-4EA4-072D-5F8B6898D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F52B5-B8E3-E9FC-C92F-5AC3F378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29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BD4504-DDC1-564C-A824-969599CA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F268A-CC08-41BB-A8D4-9B04B4F9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D36B-C726-0E07-11AE-874A4086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6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E070-0E93-B2BD-F811-811F9095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377" y="609600"/>
            <a:ext cx="405204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CF6FA-763A-4EA0-BD1D-47EE830FB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114" y="1316569"/>
            <a:ext cx="6360259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045A4-47CF-6DEE-965C-5F031F6BB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5377" y="2743200"/>
            <a:ext cx="405204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9DEB9-2B91-5766-2BAB-936503798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9B81B-1A75-B2DF-1092-CE22F32A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2B63F-E99C-4C55-74FF-AD5AC2C3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AF61-1CD2-7914-4FCE-31D359DB3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377" y="609600"/>
            <a:ext cx="405204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ADBEA-D6D9-14CE-B9E2-B764D4CCD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1114" y="1316569"/>
            <a:ext cx="6360259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1CB8A-BF54-C9DC-F359-22476E91F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5377" y="2743200"/>
            <a:ext cx="405204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763C6-77D0-0D4C-7697-168C067C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C5B5B-8887-F23D-1012-9BFFCA36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C8B2B-B649-2483-38BF-185E5512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2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F847-A4FA-EAEF-3254-291752D1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707C8-ABC5-F04F-9231-9F5CE011F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316FF-5116-0E51-C565-10870621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CC4CF-2532-8F91-3DEE-7DF8DB5B6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AE444-685A-2FA2-D348-07CA70B7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7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C59E3-7CC7-308E-C2BD-1C31DA975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0738" y="486834"/>
            <a:ext cx="2708999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28A67-7E7E-773B-522C-A2552EC0C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63739" y="486834"/>
            <a:ext cx="796995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FFFB8-6B84-7876-947F-4D6E0BE8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388FB-16A8-4A42-07DA-C624C26E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5C6BB-FA08-B6D5-38CD-E9F6E41C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79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5B4FA1-CC1B-861F-FB8F-F75F0F739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739" y="486836"/>
            <a:ext cx="10835997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609CD-BA7A-E066-511D-B507A3C0C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739" y="2434167"/>
            <a:ext cx="10835997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1E7AD-6B40-3AEB-0113-CA077E803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3739" y="8475136"/>
            <a:ext cx="2826782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7CAA1-C511-442E-9D42-BE347A5B37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7641A-F42F-E852-0776-504F16631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1651" y="8475136"/>
            <a:ext cx="4240173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6AF8A-8E1B-D94B-5FA0-A3FC68F4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72954" y="8475136"/>
            <a:ext cx="2826782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4E522-1CFC-43BC-87E4-7D0BC7785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9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ixed map background">
            <a:extLst>
              <a:ext uri="{FF2B5EF4-FFF2-40B4-BE49-F238E27FC236}">
                <a16:creationId xmlns:a16="http://schemas.microsoft.com/office/drawing/2014/main" id="{BB585EAC-DF60-2542-8CAC-5E1EA6F90B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63137" cy="9144000"/>
          </a:xfrm>
          <a:prstGeom prst="rect">
            <a:avLst/>
          </a:prstGeom>
        </p:spPr>
      </p:pic>
      <p:sp>
        <p:nvSpPr>
          <p:cNvPr id="5" name="Label - San Juan">
            <a:extLst>
              <a:ext uri="{FF2B5EF4-FFF2-40B4-BE49-F238E27FC236}">
                <a16:creationId xmlns:a16="http://schemas.microsoft.com/office/drawing/2014/main" id="{BA730B40-B386-9F50-283D-EF8F26D8602C}"/>
              </a:ext>
            </a:extLst>
          </p:cNvPr>
          <p:cNvSpPr txBox="1"/>
          <p:nvPr/>
        </p:nvSpPr>
        <p:spPr>
          <a:xfrm rot="480000">
            <a:off x="3362059" y="2549613"/>
            <a:ext cx="2324118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100" b="1" i="1">
                <a:ln w="5715" cap="flat" cmpd="sng" algn="ctr">
                  <a:solidFill>
                    <a:srgbClr val="111827">
                      <a:alpha val="88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93C5FD"/>
                </a:solidFill>
                <a:latin typeface="Inter"/>
              </a:rPr>
              <a:t>San Juan</a:t>
            </a:r>
          </a:p>
        </p:txBody>
      </p:sp>
      <p:sp>
        <p:nvSpPr>
          <p:cNvPr id="6" name="Label - River">
            <a:extLst>
              <a:ext uri="{FF2B5EF4-FFF2-40B4-BE49-F238E27FC236}">
                <a16:creationId xmlns:a16="http://schemas.microsoft.com/office/drawing/2014/main" id="{520F4D5C-71A3-2846-6212-839D0F4DBAAF}"/>
              </a:ext>
            </a:extLst>
          </p:cNvPr>
          <p:cNvSpPr txBox="1"/>
          <p:nvPr/>
        </p:nvSpPr>
        <p:spPr>
          <a:xfrm rot="2044236">
            <a:off x="4747019" y="2813079"/>
            <a:ext cx="112229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100" b="1" i="1">
                <a:ln w="5715" cap="flat" cmpd="sng" algn="ctr">
                  <a:solidFill>
                    <a:srgbClr val="111827">
                      <a:alpha val="88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93C5FD"/>
                </a:solidFill>
                <a:latin typeface="Inter"/>
              </a:rPr>
              <a:t>River</a:t>
            </a:r>
          </a:p>
        </p:txBody>
      </p:sp>
      <p:sp>
        <p:nvSpPr>
          <p:cNvPr id="9" name="Label - Navajo Reservoir">
            <a:extLst>
              <a:ext uri="{FF2B5EF4-FFF2-40B4-BE49-F238E27FC236}">
                <a16:creationId xmlns:a16="http://schemas.microsoft.com/office/drawing/2014/main" id="{AB43DDB7-FEB0-1410-4003-3C35BCEA8B29}"/>
              </a:ext>
            </a:extLst>
          </p:cNvPr>
          <p:cNvSpPr txBox="1"/>
          <p:nvPr/>
        </p:nvSpPr>
        <p:spPr>
          <a:xfrm>
            <a:off x="9857746" y="3914934"/>
            <a:ext cx="1027376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 b="1" i="1" dirty="0">
                <a:ln w="571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36BBF6"/>
                </a:solidFill>
                <a:effectLst>
                  <a:glow rad="101600">
                    <a:schemeClr val="tx1">
                      <a:alpha val="54000"/>
                    </a:schemeClr>
                  </a:glow>
                </a:effectLst>
                <a:latin typeface="Inter"/>
              </a:rPr>
              <a:t>Navajo Reservoir</a:t>
            </a:r>
          </a:p>
        </p:txBody>
      </p:sp>
      <p:sp>
        <p:nvSpPr>
          <p:cNvPr id="10" name="Label - SJ nr Bluff">
            <a:extLst>
              <a:ext uri="{FF2B5EF4-FFF2-40B4-BE49-F238E27FC236}">
                <a16:creationId xmlns:a16="http://schemas.microsoft.com/office/drawing/2014/main" id="{32260D6B-41F3-A77A-3A4A-688D8662BF5C}"/>
              </a:ext>
            </a:extLst>
          </p:cNvPr>
          <p:cNvSpPr txBox="1"/>
          <p:nvPr/>
        </p:nvSpPr>
        <p:spPr>
          <a:xfrm>
            <a:off x="1635026" y="3302183"/>
            <a:ext cx="1924421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i="1" dirty="0">
                <a:solidFill>
                  <a:srgbClr val="FB7185"/>
                </a:solidFill>
                <a:effectLst>
                  <a:glow rad="101600">
                    <a:schemeClr val="tx1">
                      <a:alpha val="70000"/>
                    </a:schemeClr>
                  </a:glow>
                </a:effectLst>
                <a:latin typeface="Inter"/>
              </a:rPr>
              <a:t>SJ near Bluff</a:t>
            </a:r>
          </a:p>
        </p:txBody>
      </p:sp>
      <p:cxnSp>
        <p:nvCxnSpPr>
          <p:cNvPr id="16" name="Leader - Animas at Farmington">
            <a:extLst>
              <a:ext uri="{FF2B5EF4-FFF2-40B4-BE49-F238E27FC236}">
                <a16:creationId xmlns:a16="http://schemas.microsoft.com/office/drawing/2014/main" id="{AB32B66D-BAA9-D52F-626B-B72969BA0143}"/>
              </a:ext>
            </a:extLst>
          </p:cNvPr>
          <p:cNvCxnSpPr>
            <a:cxnSpLocks/>
          </p:cNvCxnSpPr>
          <p:nvPr/>
        </p:nvCxnSpPr>
        <p:spPr>
          <a:xfrm flipH="1" flipV="1">
            <a:off x="7340600" y="4140200"/>
            <a:ext cx="413306" cy="578104"/>
          </a:xfrm>
          <a:prstGeom prst="line">
            <a:avLst/>
          </a:prstGeom>
          <a:ln w="1587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eader - SJ at Farmington">
            <a:extLst>
              <a:ext uri="{FF2B5EF4-FFF2-40B4-BE49-F238E27FC236}">
                <a16:creationId xmlns:a16="http://schemas.microsoft.com/office/drawing/2014/main" id="{9E2AF64E-FF7E-81AF-57AF-51778C1307E5}"/>
              </a:ext>
            </a:extLst>
          </p:cNvPr>
          <p:cNvCxnSpPr/>
          <p:nvPr/>
        </p:nvCxnSpPr>
        <p:spPr>
          <a:xfrm flipV="1">
            <a:off x="7336397" y="4773168"/>
            <a:ext cx="351755" cy="274320"/>
          </a:xfrm>
          <a:prstGeom prst="line">
            <a:avLst/>
          </a:prstGeom>
          <a:ln w="1524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Map legend">
            <a:extLst>
              <a:ext uri="{FF2B5EF4-FFF2-40B4-BE49-F238E27FC236}">
                <a16:creationId xmlns:a16="http://schemas.microsoft.com/office/drawing/2014/main" id="{042D03BC-1318-0847-CDEC-A696B764127B}"/>
              </a:ext>
            </a:extLst>
          </p:cNvPr>
          <p:cNvGrpSpPr/>
          <p:nvPr/>
        </p:nvGrpSpPr>
        <p:grpSpPr>
          <a:xfrm>
            <a:off x="314078" y="256032"/>
            <a:ext cx="2952338" cy="1280160"/>
            <a:chOff x="314078" y="256032"/>
            <a:chExt cx="2952338" cy="1280160"/>
          </a:xfrm>
        </p:grpSpPr>
        <p:sp>
          <p:nvSpPr>
            <p:cNvPr id="18" name="Legend - panel">
              <a:extLst>
                <a:ext uri="{FF2B5EF4-FFF2-40B4-BE49-F238E27FC236}">
                  <a16:creationId xmlns:a16="http://schemas.microsoft.com/office/drawing/2014/main" id="{12B1E3BB-B0CB-7670-B35D-211890A68FD4}"/>
                </a:ext>
              </a:extLst>
            </p:cNvPr>
            <p:cNvSpPr/>
            <p:nvPr/>
          </p:nvSpPr>
          <p:spPr>
            <a:xfrm>
              <a:off x="314078" y="256032"/>
              <a:ext cx="2952338" cy="1280160"/>
            </a:xfrm>
            <a:prstGeom prst="roundRect">
              <a:avLst>
                <a:gd name="adj" fmla="val 4762"/>
              </a:avLst>
            </a:prstGeom>
            <a:solidFill>
              <a:srgbClr val="FFFFFF">
                <a:alpha val="92000"/>
              </a:srgbClr>
            </a:solidFill>
            <a:ln w="1016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Legend - Animas and Navajo line">
              <a:extLst>
                <a:ext uri="{FF2B5EF4-FFF2-40B4-BE49-F238E27FC236}">
                  <a16:creationId xmlns:a16="http://schemas.microsoft.com/office/drawing/2014/main" id="{E44E11D5-7202-85AE-4E07-B4B9FB5DEA6F}"/>
                </a:ext>
              </a:extLst>
            </p:cNvPr>
            <p:cNvCxnSpPr/>
            <p:nvPr/>
          </p:nvCxnSpPr>
          <p:spPr>
            <a:xfrm>
              <a:off x="427147" y="457200"/>
              <a:ext cx="376894" cy="0"/>
            </a:xfrm>
            <a:prstGeom prst="line">
              <a:avLst/>
            </a:prstGeom>
            <a:ln w="31750">
              <a:solidFill>
                <a:srgbClr val="FACC1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Legend - Animas and Navajo text">
              <a:extLst>
                <a:ext uri="{FF2B5EF4-FFF2-40B4-BE49-F238E27FC236}">
                  <a16:creationId xmlns:a16="http://schemas.microsoft.com/office/drawing/2014/main" id="{9BE4D819-7EE4-6A01-4795-4A90E2C3E142}"/>
                </a:ext>
              </a:extLst>
            </p:cNvPr>
            <p:cNvSpPr txBox="1"/>
            <p:nvPr/>
          </p:nvSpPr>
          <p:spPr>
            <a:xfrm>
              <a:off x="917109" y="355166"/>
              <a:ext cx="2236238" cy="2616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sz="1700">
                  <a:solidFill>
                    <a:srgbClr val="111827"/>
                  </a:solidFill>
                  <a:latin typeface="Inter"/>
                </a:rPr>
                <a:t>Animas + Navajo basins</a:t>
              </a:r>
            </a:p>
          </p:txBody>
        </p:sp>
        <p:cxnSp>
          <p:nvCxnSpPr>
            <p:cNvPr id="21" name="Legend - basin boundary underlay">
              <a:extLst>
                <a:ext uri="{FF2B5EF4-FFF2-40B4-BE49-F238E27FC236}">
                  <a16:creationId xmlns:a16="http://schemas.microsoft.com/office/drawing/2014/main" id="{A09C7C89-7EC5-DA12-8837-3DA1E34696E3}"/>
                </a:ext>
              </a:extLst>
            </p:cNvPr>
            <p:cNvCxnSpPr/>
            <p:nvPr/>
          </p:nvCxnSpPr>
          <p:spPr>
            <a:xfrm>
              <a:off x="427147" y="731520"/>
              <a:ext cx="376894" cy="0"/>
            </a:xfrm>
            <a:prstGeom prst="line">
              <a:avLst/>
            </a:prstGeom>
            <a:ln w="38100">
              <a:solidFill>
                <a:srgbClr val="6474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Legend - basin boundary">
              <a:extLst>
                <a:ext uri="{FF2B5EF4-FFF2-40B4-BE49-F238E27FC236}">
                  <a16:creationId xmlns:a16="http://schemas.microsoft.com/office/drawing/2014/main" id="{BFF67846-D432-67DB-DA83-FF4F82382444}"/>
                </a:ext>
              </a:extLst>
            </p:cNvPr>
            <p:cNvCxnSpPr/>
            <p:nvPr/>
          </p:nvCxnSpPr>
          <p:spPr>
            <a:xfrm>
              <a:off x="427147" y="731520"/>
              <a:ext cx="376894" cy="0"/>
            </a:xfrm>
            <a:prstGeom prst="line">
              <a:avLst/>
            </a:prstGeom>
            <a:ln w="1778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gend - basin text">
              <a:extLst>
                <a:ext uri="{FF2B5EF4-FFF2-40B4-BE49-F238E27FC236}">
                  <a16:creationId xmlns:a16="http://schemas.microsoft.com/office/drawing/2014/main" id="{73F24D65-2841-6C28-22D2-675B63B98891}"/>
                </a:ext>
              </a:extLst>
            </p:cNvPr>
            <p:cNvSpPr txBox="1"/>
            <p:nvPr/>
          </p:nvSpPr>
          <p:spPr>
            <a:xfrm>
              <a:off x="917109" y="629486"/>
              <a:ext cx="2236238" cy="2616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sz="1700">
                  <a:solidFill>
                    <a:srgbClr val="111827"/>
                  </a:solidFill>
                  <a:latin typeface="Inter"/>
                </a:rPr>
                <a:t>San Juan basin</a:t>
              </a:r>
            </a:p>
          </p:txBody>
        </p:sp>
        <p:cxnSp>
          <p:nvCxnSpPr>
            <p:cNvPr id="24" name="Legend - mainstem line">
              <a:extLst>
                <a:ext uri="{FF2B5EF4-FFF2-40B4-BE49-F238E27FC236}">
                  <a16:creationId xmlns:a16="http://schemas.microsoft.com/office/drawing/2014/main" id="{66BBCB59-7669-7CAE-7C57-8657ED87FE5C}"/>
                </a:ext>
              </a:extLst>
            </p:cNvPr>
            <p:cNvCxnSpPr/>
            <p:nvPr/>
          </p:nvCxnSpPr>
          <p:spPr>
            <a:xfrm>
              <a:off x="427147" y="1005840"/>
              <a:ext cx="376894" cy="0"/>
            </a:xfrm>
            <a:prstGeom prst="line">
              <a:avLst/>
            </a:prstGeom>
            <a:ln w="31750">
              <a:solidFill>
                <a:srgbClr val="2B6C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Legend - mainstem text">
              <a:extLst>
                <a:ext uri="{FF2B5EF4-FFF2-40B4-BE49-F238E27FC236}">
                  <a16:creationId xmlns:a16="http://schemas.microsoft.com/office/drawing/2014/main" id="{05483E87-D4E4-0A81-3814-276AB46B85B2}"/>
                </a:ext>
              </a:extLst>
            </p:cNvPr>
            <p:cNvSpPr txBox="1"/>
            <p:nvPr/>
          </p:nvSpPr>
          <p:spPr>
            <a:xfrm>
              <a:off x="917109" y="903806"/>
              <a:ext cx="2236238" cy="2616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sz="1700">
                  <a:solidFill>
                    <a:srgbClr val="111827"/>
                  </a:solidFill>
                  <a:latin typeface="Inter"/>
                </a:rPr>
                <a:t>San Juan mainstem</a:t>
              </a:r>
            </a:p>
          </p:txBody>
        </p:sp>
        <p:sp>
          <p:nvSpPr>
            <p:cNvPr id="26" name="Legend - gage marker">
              <a:extLst>
                <a:ext uri="{FF2B5EF4-FFF2-40B4-BE49-F238E27FC236}">
                  <a16:creationId xmlns:a16="http://schemas.microsoft.com/office/drawing/2014/main" id="{C241BF97-478F-5544-5105-2E756444CCE2}"/>
                </a:ext>
              </a:extLst>
            </p:cNvPr>
            <p:cNvSpPr/>
            <p:nvPr/>
          </p:nvSpPr>
          <p:spPr>
            <a:xfrm>
              <a:off x="552094" y="1225804"/>
              <a:ext cx="127000" cy="127000"/>
            </a:xfrm>
            <a:prstGeom prst="ellipse">
              <a:avLst/>
            </a:prstGeom>
            <a:solidFill>
              <a:srgbClr val="FB7185"/>
            </a:solidFill>
            <a:ln w="12700">
              <a:solidFill>
                <a:srgbClr val="11182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Legend - gage text">
              <a:extLst>
                <a:ext uri="{FF2B5EF4-FFF2-40B4-BE49-F238E27FC236}">
                  <a16:creationId xmlns:a16="http://schemas.microsoft.com/office/drawing/2014/main" id="{73D323CE-D7E5-04F7-EC78-3C465A343AA0}"/>
                </a:ext>
              </a:extLst>
            </p:cNvPr>
            <p:cNvSpPr txBox="1"/>
            <p:nvPr/>
          </p:nvSpPr>
          <p:spPr>
            <a:xfrm>
              <a:off x="917109" y="1187270"/>
              <a:ext cx="2236238" cy="2616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sz="1700" dirty="0">
                  <a:solidFill>
                    <a:srgbClr val="111827"/>
                  </a:solidFill>
                  <a:latin typeface="Inter"/>
                </a:rPr>
                <a:t>USGS gage</a:t>
              </a:r>
            </a:p>
          </p:txBody>
        </p:sp>
      </p:grpSp>
      <p:pic>
        <p:nvPicPr>
          <p:cNvPr id="30" name="North arrow">
            <a:extLst>
              <a:ext uri="{FF2B5EF4-FFF2-40B4-BE49-F238E27FC236}">
                <a16:creationId xmlns:a16="http://schemas.microsoft.com/office/drawing/2014/main" id="{A03A4DAE-521E-74EF-3390-5A589F3EABE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28" y="8311895"/>
            <a:ext cx="721500" cy="743937"/>
          </a:xfrm>
          <a:prstGeom prst="rect">
            <a:avLst/>
          </a:prstGeom>
        </p:spPr>
      </p:pic>
      <p:grpSp>
        <p:nvGrpSpPr>
          <p:cNvPr id="34" name="Scale bar">
            <a:extLst>
              <a:ext uri="{FF2B5EF4-FFF2-40B4-BE49-F238E27FC236}">
                <a16:creationId xmlns:a16="http://schemas.microsoft.com/office/drawing/2014/main" id="{8C15845A-72DA-957F-E59F-15BC8BEFD509}"/>
              </a:ext>
            </a:extLst>
          </p:cNvPr>
          <p:cNvGrpSpPr/>
          <p:nvPr/>
        </p:nvGrpSpPr>
        <p:grpSpPr>
          <a:xfrm>
            <a:off x="1086549" y="8357616"/>
            <a:ext cx="3027716" cy="374904"/>
            <a:chOff x="565341" y="8375904"/>
            <a:chExt cx="3027716" cy="374904"/>
          </a:xfrm>
        </p:grpSpPr>
        <p:cxnSp>
          <p:nvCxnSpPr>
            <p:cNvPr id="31" name="Scale bar - dark underlay">
              <a:extLst>
                <a:ext uri="{FF2B5EF4-FFF2-40B4-BE49-F238E27FC236}">
                  <a16:creationId xmlns:a16="http://schemas.microsoft.com/office/drawing/2014/main" id="{FAA6ED83-392C-E3F8-A397-DF545CE76C3E}"/>
                </a:ext>
              </a:extLst>
            </p:cNvPr>
            <p:cNvCxnSpPr/>
            <p:nvPr/>
          </p:nvCxnSpPr>
          <p:spPr>
            <a:xfrm>
              <a:off x="565341" y="8750808"/>
              <a:ext cx="3027716" cy="0"/>
            </a:xfrm>
            <a:prstGeom prst="line">
              <a:avLst/>
            </a:prstGeom>
            <a:ln w="76200">
              <a:solidFill>
                <a:srgbClr val="1118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cale bar - white line">
              <a:extLst>
                <a:ext uri="{FF2B5EF4-FFF2-40B4-BE49-F238E27FC236}">
                  <a16:creationId xmlns:a16="http://schemas.microsoft.com/office/drawing/2014/main" id="{21910CE6-8FCB-3B4D-C4D9-86D574325707}"/>
                </a:ext>
              </a:extLst>
            </p:cNvPr>
            <p:cNvCxnSpPr/>
            <p:nvPr/>
          </p:nvCxnSpPr>
          <p:spPr>
            <a:xfrm>
              <a:off x="565341" y="8750808"/>
              <a:ext cx="3027716" cy="0"/>
            </a:xfrm>
            <a:prstGeom prst="line">
              <a:avLst/>
            </a:prstGeom>
            <a:ln w="508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Label - Scale bar - label">
              <a:extLst>
                <a:ext uri="{FF2B5EF4-FFF2-40B4-BE49-F238E27FC236}">
                  <a16:creationId xmlns:a16="http://schemas.microsoft.com/office/drawing/2014/main" id="{DB8FFCD3-C44A-0935-38B6-107BFB2D0C6D}"/>
                </a:ext>
              </a:extLst>
            </p:cNvPr>
            <p:cNvSpPr txBox="1"/>
            <p:nvPr/>
          </p:nvSpPr>
          <p:spPr>
            <a:xfrm>
              <a:off x="1457324" y="8375904"/>
              <a:ext cx="1256314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en-US" b="1" dirty="0">
                  <a:ln w="5715" cap="flat" cmpd="sng" algn="ctr">
                    <a:solidFill>
                      <a:srgbClr val="111827">
                        <a:alpha val="88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Inter"/>
                </a:rPr>
                <a:t>100 km</a:t>
              </a:r>
            </a:p>
          </p:txBody>
        </p:sp>
      </p:grpSp>
      <p:grpSp>
        <p:nvGrpSpPr>
          <p:cNvPr id="51" name="Headwater contribution inset">
            <a:extLst>
              <a:ext uri="{FF2B5EF4-FFF2-40B4-BE49-F238E27FC236}">
                <a16:creationId xmlns:a16="http://schemas.microsoft.com/office/drawing/2014/main" id="{F0F31649-938A-7567-F129-50E8FDD44F5C}"/>
              </a:ext>
            </a:extLst>
          </p:cNvPr>
          <p:cNvGrpSpPr/>
          <p:nvPr/>
        </p:nvGrpSpPr>
        <p:grpSpPr>
          <a:xfrm>
            <a:off x="8046566" y="6225540"/>
            <a:ext cx="4285134" cy="2537460"/>
            <a:chOff x="7411566" y="6035040"/>
            <a:chExt cx="4285134" cy="2537460"/>
          </a:xfrm>
        </p:grpSpPr>
        <p:sp>
          <p:nvSpPr>
            <p:cNvPr id="35" name="Inset - panel">
              <a:extLst>
                <a:ext uri="{FF2B5EF4-FFF2-40B4-BE49-F238E27FC236}">
                  <a16:creationId xmlns:a16="http://schemas.microsoft.com/office/drawing/2014/main" id="{EE3F01FF-70E2-60FE-A77A-8FB78978FF6D}"/>
                </a:ext>
              </a:extLst>
            </p:cNvPr>
            <p:cNvSpPr/>
            <p:nvPr/>
          </p:nvSpPr>
          <p:spPr>
            <a:xfrm>
              <a:off x="7518400" y="6035040"/>
              <a:ext cx="4178300" cy="253746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nset - title">
              <a:extLst>
                <a:ext uri="{FF2B5EF4-FFF2-40B4-BE49-F238E27FC236}">
                  <a16:creationId xmlns:a16="http://schemas.microsoft.com/office/drawing/2014/main" id="{AF1B5ABA-6D8E-5B18-E7A4-89FC005CF201}"/>
                </a:ext>
              </a:extLst>
            </p:cNvPr>
            <p:cNvSpPr txBox="1"/>
            <p:nvPr/>
          </p:nvSpPr>
          <p:spPr>
            <a:xfrm>
              <a:off x="7416801" y="6062403"/>
              <a:ext cx="4267200" cy="27489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rgbClr val="111827"/>
                  </a:solidFill>
                  <a:latin typeface="Inter"/>
                </a:rPr>
                <a:t>Disproportionate contributing areas</a:t>
              </a:r>
            </a:p>
          </p:txBody>
        </p:sp>
        <p:sp>
          <p:nvSpPr>
            <p:cNvPr id="37" name="Inset - headwater legend swatch">
              <a:extLst>
                <a:ext uri="{FF2B5EF4-FFF2-40B4-BE49-F238E27FC236}">
                  <a16:creationId xmlns:a16="http://schemas.microsoft.com/office/drawing/2014/main" id="{C244D862-B1F0-08BD-62B6-0A62A8BBED0A}"/>
                </a:ext>
              </a:extLst>
            </p:cNvPr>
            <p:cNvSpPr/>
            <p:nvPr/>
          </p:nvSpPr>
          <p:spPr>
            <a:xfrm>
              <a:off x="8664350" y="6430264"/>
              <a:ext cx="101600" cy="101600"/>
            </a:xfrm>
            <a:prstGeom prst="rect">
              <a:avLst/>
            </a:prstGeom>
            <a:solidFill>
              <a:srgbClr val="FACC1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nset - headwater legend text">
              <a:extLst>
                <a:ext uri="{FF2B5EF4-FFF2-40B4-BE49-F238E27FC236}">
                  <a16:creationId xmlns:a16="http://schemas.microsoft.com/office/drawing/2014/main" id="{166395E4-5872-FC33-E9F6-CD62FB93695C}"/>
                </a:ext>
              </a:extLst>
            </p:cNvPr>
            <p:cNvSpPr txBox="1"/>
            <p:nvPr/>
          </p:nvSpPr>
          <p:spPr>
            <a:xfrm>
              <a:off x="8915613" y="6369601"/>
              <a:ext cx="1758839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sz="1400" dirty="0">
                  <a:solidFill>
                    <a:srgbClr val="111827"/>
                  </a:solidFill>
                  <a:latin typeface="Inter"/>
                </a:rPr>
                <a:t>Animas + Navajo</a:t>
              </a:r>
            </a:p>
          </p:txBody>
        </p:sp>
        <p:sp>
          <p:nvSpPr>
            <p:cNvPr id="39" name="Inset - other basins legend swatch">
              <a:extLst>
                <a:ext uri="{FF2B5EF4-FFF2-40B4-BE49-F238E27FC236}">
                  <a16:creationId xmlns:a16="http://schemas.microsoft.com/office/drawing/2014/main" id="{E9ED42DA-AEF0-1FF5-2370-CF963218FB19}"/>
                </a:ext>
              </a:extLst>
            </p:cNvPr>
            <p:cNvSpPr/>
            <p:nvPr/>
          </p:nvSpPr>
          <p:spPr>
            <a:xfrm>
              <a:off x="8666210" y="6646164"/>
              <a:ext cx="101600" cy="101600"/>
            </a:xfrm>
            <a:prstGeom prst="rect">
              <a:avLst/>
            </a:prstGeom>
            <a:solidFill>
              <a:srgbClr val="CBD5E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Inset - other basins legend text">
              <a:extLst>
                <a:ext uri="{FF2B5EF4-FFF2-40B4-BE49-F238E27FC236}">
                  <a16:creationId xmlns:a16="http://schemas.microsoft.com/office/drawing/2014/main" id="{7B606F44-C77C-CCD2-4E99-120CE11B23D9}"/>
                </a:ext>
              </a:extLst>
            </p:cNvPr>
            <p:cNvSpPr txBox="1"/>
            <p:nvPr/>
          </p:nvSpPr>
          <p:spPr>
            <a:xfrm>
              <a:off x="8917473" y="6585502"/>
              <a:ext cx="1696023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sz="1400" dirty="0">
                  <a:solidFill>
                    <a:srgbClr val="111827"/>
                  </a:solidFill>
                  <a:latin typeface="Inter"/>
                </a:rPr>
                <a:t>Rest of San Juan basin</a:t>
              </a:r>
            </a:p>
          </p:txBody>
        </p:sp>
        <p:pic>
          <p:nvPicPr>
            <p:cNvPr id="42" name="Inset - area donut">
              <a:extLst>
                <a:ext uri="{FF2B5EF4-FFF2-40B4-BE49-F238E27FC236}">
                  <a16:creationId xmlns:a16="http://schemas.microsoft.com/office/drawing/2014/main" id="{A4EE89CD-5F86-B15B-8832-DDD2D0CCD3E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63009" y="6720840"/>
              <a:ext cx="1570392" cy="1417320"/>
            </a:xfrm>
            <a:prstGeom prst="rect">
              <a:avLst/>
            </a:prstGeom>
          </p:spPr>
        </p:pic>
        <p:pic>
          <p:nvPicPr>
            <p:cNvPr id="44" name="Inset - discharge donut">
              <a:extLst>
                <a:ext uri="{FF2B5EF4-FFF2-40B4-BE49-F238E27FC236}">
                  <a16:creationId xmlns:a16="http://schemas.microsoft.com/office/drawing/2014/main" id="{32C8A432-FB2F-54B3-0AD4-C8FFB9AECE8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83998" y="6720840"/>
              <a:ext cx="1570392" cy="1417320"/>
            </a:xfrm>
            <a:prstGeom prst="rect">
              <a:avLst/>
            </a:prstGeom>
          </p:spPr>
        </p:pic>
        <p:sp>
          <p:nvSpPr>
            <p:cNvPr id="45" name="Inset - area percentage">
              <a:extLst>
                <a:ext uri="{FF2B5EF4-FFF2-40B4-BE49-F238E27FC236}">
                  <a16:creationId xmlns:a16="http://schemas.microsoft.com/office/drawing/2014/main" id="{A1A9DBEA-4504-7052-5D43-6CEE85034291}"/>
                </a:ext>
              </a:extLst>
            </p:cNvPr>
            <p:cNvSpPr txBox="1"/>
            <p:nvPr/>
          </p:nvSpPr>
          <p:spPr>
            <a:xfrm>
              <a:off x="7563009" y="7261786"/>
              <a:ext cx="1570392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en-US" sz="1900" b="1" dirty="0">
                  <a:solidFill>
                    <a:srgbClr val="FACC15"/>
                  </a:solidFill>
                  <a:latin typeface="Inter"/>
                </a:rPr>
                <a:t>18.6%</a:t>
              </a:r>
            </a:p>
          </p:txBody>
        </p:sp>
        <p:sp>
          <p:nvSpPr>
            <p:cNvPr id="46" name="Inset - discharge percentage">
              <a:extLst>
                <a:ext uri="{FF2B5EF4-FFF2-40B4-BE49-F238E27FC236}">
                  <a16:creationId xmlns:a16="http://schemas.microsoft.com/office/drawing/2014/main" id="{84EBBB4D-1323-BB11-C09C-FDC737823EAB}"/>
                </a:ext>
              </a:extLst>
            </p:cNvPr>
            <p:cNvSpPr txBox="1"/>
            <p:nvPr/>
          </p:nvSpPr>
          <p:spPr>
            <a:xfrm>
              <a:off x="9983998" y="7261786"/>
              <a:ext cx="1570392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en-US" sz="1900" b="1" dirty="0">
                  <a:solidFill>
                    <a:srgbClr val="FACC15"/>
                  </a:solidFill>
                  <a:latin typeface="Inter"/>
                </a:rPr>
                <a:t>96.2%</a:t>
              </a:r>
            </a:p>
          </p:txBody>
        </p:sp>
        <p:sp>
          <p:nvSpPr>
            <p:cNvPr id="47" name="Inset - connector text">
              <a:extLst>
                <a:ext uri="{FF2B5EF4-FFF2-40B4-BE49-F238E27FC236}">
                  <a16:creationId xmlns:a16="http://schemas.microsoft.com/office/drawing/2014/main" id="{298CA084-CF30-8AEF-FB6D-4A4AECC26520}"/>
                </a:ext>
              </a:extLst>
            </p:cNvPr>
            <p:cNvSpPr txBox="1"/>
            <p:nvPr/>
          </p:nvSpPr>
          <p:spPr>
            <a:xfrm>
              <a:off x="8993290" y="7088930"/>
              <a:ext cx="1130682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111827"/>
                  </a:solidFill>
                  <a:latin typeface="Inter"/>
                </a:rPr>
                <a:t>accounts for</a:t>
              </a:r>
            </a:p>
          </p:txBody>
        </p:sp>
        <p:cxnSp>
          <p:nvCxnSpPr>
            <p:cNvPr id="48" name="Inset - connector arrow">
              <a:extLst>
                <a:ext uri="{FF2B5EF4-FFF2-40B4-BE49-F238E27FC236}">
                  <a16:creationId xmlns:a16="http://schemas.microsoft.com/office/drawing/2014/main" id="{DBE7D18E-6055-9395-956A-B250996CCC12}"/>
                </a:ext>
              </a:extLst>
            </p:cNvPr>
            <p:cNvCxnSpPr/>
            <p:nvPr/>
          </p:nvCxnSpPr>
          <p:spPr>
            <a:xfrm>
              <a:off x="9144048" y="7433056"/>
              <a:ext cx="829167" cy="0"/>
            </a:xfrm>
            <a:prstGeom prst="line">
              <a:avLst/>
            </a:prstGeom>
            <a:ln w="31750">
              <a:solidFill>
                <a:srgbClr val="FACC15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Inset - area description">
              <a:extLst>
                <a:ext uri="{FF2B5EF4-FFF2-40B4-BE49-F238E27FC236}">
                  <a16:creationId xmlns:a16="http://schemas.microsoft.com/office/drawing/2014/main" id="{F42CD395-65DD-B786-8BED-95C531981DDC}"/>
                </a:ext>
              </a:extLst>
            </p:cNvPr>
            <p:cNvSpPr txBox="1"/>
            <p:nvPr/>
          </p:nvSpPr>
          <p:spPr>
            <a:xfrm>
              <a:off x="7411566" y="8051056"/>
              <a:ext cx="1821655" cy="43088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11827"/>
                  </a:solidFill>
                  <a:latin typeface="Inter"/>
                </a:rPr>
                <a:t>San Juan Basin</a:t>
              </a:r>
            </a:p>
            <a:p>
              <a:pPr algn="ctr"/>
              <a:r>
                <a:rPr lang="en-US" sz="1400" dirty="0">
                  <a:solidFill>
                    <a:srgbClr val="111827"/>
                  </a:solidFill>
                  <a:latin typeface="Inter"/>
                </a:rPr>
                <a:t>drainage area</a:t>
              </a:r>
            </a:p>
          </p:txBody>
        </p:sp>
        <p:sp>
          <p:nvSpPr>
            <p:cNvPr id="50" name="Inset - discharge description">
              <a:extLst>
                <a:ext uri="{FF2B5EF4-FFF2-40B4-BE49-F238E27FC236}">
                  <a16:creationId xmlns:a16="http://schemas.microsoft.com/office/drawing/2014/main" id="{4BE44D26-A2C5-6B9A-6C0B-9B047ABF4A30}"/>
                </a:ext>
              </a:extLst>
            </p:cNvPr>
            <p:cNvSpPr txBox="1"/>
            <p:nvPr/>
          </p:nvSpPr>
          <p:spPr>
            <a:xfrm>
              <a:off x="9858367" y="8051056"/>
              <a:ext cx="1821655" cy="43088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11827"/>
                  </a:solidFill>
                  <a:latin typeface="Inter"/>
                </a:rPr>
                <a:t>Contribution to discharge at SJ nr Bluff</a:t>
              </a:r>
            </a:p>
          </p:txBody>
        </p:sp>
      </p:grpSp>
      <p:sp>
        <p:nvSpPr>
          <p:cNvPr id="52" name="Label - Imagery attribution">
            <a:extLst>
              <a:ext uri="{FF2B5EF4-FFF2-40B4-BE49-F238E27FC236}">
                <a16:creationId xmlns:a16="http://schemas.microsoft.com/office/drawing/2014/main" id="{6682A2FD-240E-E186-D2EA-965123ED05A8}"/>
              </a:ext>
            </a:extLst>
          </p:cNvPr>
          <p:cNvSpPr txBox="1"/>
          <p:nvPr/>
        </p:nvSpPr>
        <p:spPr>
          <a:xfrm>
            <a:off x="9359191" y="8908534"/>
            <a:ext cx="3140784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n w="571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glow rad="101600">
                    <a:schemeClr val="tx1">
                      <a:alpha val="66000"/>
                    </a:schemeClr>
                  </a:glow>
                </a:effectLst>
                <a:latin typeface="Inter"/>
              </a:rPr>
              <a:t>Imagery: USDA, USGS The National Map</a:t>
            </a:r>
          </a:p>
        </p:txBody>
      </p:sp>
      <p:sp>
        <p:nvSpPr>
          <p:cNvPr id="29" name="Label - SJ nr Bluff">
            <a:extLst>
              <a:ext uri="{FF2B5EF4-FFF2-40B4-BE49-F238E27FC236}">
                <a16:creationId xmlns:a16="http://schemas.microsoft.com/office/drawing/2014/main" id="{E861FF8D-3F2E-B857-A51C-42B9504777F9}"/>
              </a:ext>
            </a:extLst>
          </p:cNvPr>
          <p:cNvSpPr txBox="1"/>
          <p:nvPr/>
        </p:nvSpPr>
        <p:spPr>
          <a:xfrm>
            <a:off x="3641118" y="3782243"/>
            <a:ext cx="1924421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i="1" dirty="0">
                <a:solidFill>
                  <a:srgbClr val="FB7185"/>
                </a:solidFill>
                <a:effectLst>
                  <a:glow rad="101600">
                    <a:schemeClr val="tx1">
                      <a:alpha val="70000"/>
                    </a:schemeClr>
                  </a:glow>
                </a:effectLst>
                <a:latin typeface="Inter"/>
              </a:rPr>
              <a:t>SJ at Four Corners</a:t>
            </a:r>
          </a:p>
        </p:txBody>
      </p:sp>
      <p:sp>
        <p:nvSpPr>
          <p:cNvPr id="43" name="Label - SJ nr Bluff">
            <a:extLst>
              <a:ext uri="{FF2B5EF4-FFF2-40B4-BE49-F238E27FC236}">
                <a16:creationId xmlns:a16="http://schemas.microsoft.com/office/drawing/2014/main" id="{19C24AFE-C7C5-A8F5-E8E9-223232C61070}"/>
              </a:ext>
            </a:extLst>
          </p:cNvPr>
          <p:cNvSpPr txBox="1"/>
          <p:nvPr/>
        </p:nvSpPr>
        <p:spPr>
          <a:xfrm>
            <a:off x="4797326" y="4572183"/>
            <a:ext cx="1924421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i="1" dirty="0">
                <a:solidFill>
                  <a:srgbClr val="FB7185"/>
                </a:solidFill>
                <a:effectLst>
                  <a:glow rad="101600">
                    <a:schemeClr val="tx1">
                      <a:alpha val="70000"/>
                    </a:schemeClr>
                  </a:glow>
                </a:effectLst>
                <a:latin typeface="Inter"/>
              </a:rPr>
              <a:t>SJ at Shiprock</a:t>
            </a:r>
          </a:p>
        </p:txBody>
      </p:sp>
      <p:sp>
        <p:nvSpPr>
          <p:cNvPr id="54" name="Label - SJ nr Bluff">
            <a:extLst>
              <a:ext uri="{FF2B5EF4-FFF2-40B4-BE49-F238E27FC236}">
                <a16:creationId xmlns:a16="http://schemas.microsoft.com/office/drawing/2014/main" id="{A4735979-FD63-5D01-2006-B7F08253161F}"/>
              </a:ext>
            </a:extLst>
          </p:cNvPr>
          <p:cNvSpPr txBox="1"/>
          <p:nvPr/>
        </p:nvSpPr>
        <p:spPr>
          <a:xfrm>
            <a:off x="5902226" y="5054783"/>
            <a:ext cx="1924421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i="1" dirty="0">
                <a:solidFill>
                  <a:srgbClr val="FB7185"/>
                </a:solidFill>
                <a:effectLst>
                  <a:glow rad="101600">
                    <a:schemeClr val="tx1">
                      <a:alpha val="70000"/>
                    </a:schemeClr>
                  </a:glow>
                </a:effectLst>
                <a:latin typeface="Inter"/>
              </a:rPr>
              <a:t>SJ at Farmington</a:t>
            </a:r>
          </a:p>
        </p:txBody>
      </p:sp>
      <p:sp>
        <p:nvSpPr>
          <p:cNvPr id="56" name="Label - SJ nr Bluff">
            <a:extLst>
              <a:ext uri="{FF2B5EF4-FFF2-40B4-BE49-F238E27FC236}">
                <a16:creationId xmlns:a16="http://schemas.microsoft.com/office/drawing/2014/main" id="{03A81516-B077-3FB0-22EE-4C94B3975FE7}"/>
              </a:ext>
            </a:extLst>
          </p:cNvPr>
          <p:cNvSpPr txBox="1"/>
          <p:nvPr/>
        </p:nvSpPr>
        <p:spPr>
          <a:xfrm>
            <a:off x="6334026" y="3582784"/>
            <a:ext cx="1924421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i="1" dirty="0">
                <a:solidFill>
                  <a:srgbClr val="FB7185"/>
                </a:solidFill>
                <a:effectLst>
                  <a:glow rad="101600">
                    <a:schemeClr val="tx1">
                      <a:alpha val="70000"/>
                    </a:schemeClr>
                  </a:glow>
                </a:effectLst>
                <a:latin typeface="Inter"/>
              </a:rPr>
              <a:t>Animas at Farmington</a:t>
            </a:r>
          </a:p>
        </p:txBody>
      </p:sp>
      <p:sp>
        <p:nvSpPr>
          <p:cNvPr id="59" name="Label - SJ nr Bluff">
            <a:extLst>
              <a:ext uri="{FF2B5EF4-FFF2-40B4-BE49-F238E27FC236}">
                <a16:creationId xmlns:a16="http://schemas.microsoft.com/office/drawing/2014/main" id="{1633787C-2889-CAD3-7A65-60E6BFDB9EE2}"/>
              </a:ext>
            </a:extLst>
          </p:cNvPr>
          <p:cNvSpPr txBox="1"/>
          <p:nvPr/>
        </p:nvSpPr>
        <p:spPr>
          <a:xfrm>
            <a:off x="8734327" y="4549093"/>
            <a:ext cx="119707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i="1" dirty="0">
                <a:solidFill>
                  <a:srgbClr val="FB7185"/>
                </a:solidFill>
                <a:effectLst>
                  <a:glow rad="101600">
                    <a:schemeClr val="tx1">
                      <a:alpha val="70000"/>
                    </a:schemeClr>
                  </a:glow>
                </a:effectLst>
                <a:latin typeface="Inter"/>
              </a:rPr>
              <a:t>SJ at Archuleta</a:t>
            </a:r>
          </a:p>
        </p:txBody>
      </p:sp>
      <p:sp>
        <p:nvSpPr>
          <p:cNvPr id="61" name="Label - Navajo Reservoir">
            <a:extLst>
              <a:ext uri="{FF2B5EF4-FFF2-40B4-BE49-F238E27FC236}">
                <a16:creationId xmlns:a16="http://schemas.microsoft.com/office/drawing/2014/main" id="{39953CC4-21F9-C226-2582-72D5D792F951}"/>
              </a:ext>
            </a:extLst>
          </p:cNvPr>
          <p:cNvSpPr txBox="1"/>
          <p:nvPr/>
        </p:nvSpPr>
        <p:spPr>
          <a:xfrm>
            <a:off x="0" y="2898934"/>
            <a:ext cx="1027376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 b="1" i="1" dirty="0">
                <a:ln w="571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glow rad="101600">
                    <a:schemeClr val="tx1">
                      <a:alpha val="54000"/>
                    </a:schemeClr>
                  </a:glow>
                </a:effectLst>
                <a:latin typeface="Inter"/>
              </a:rPr>
              <a:t>Lake Powell</a:t>
            </a:r>
          </a:p>
        </p:txBody>
      </p:sp>
      <p:sp>
        <p:nvSpPr>
          <p:cNvPr id="63" name="Label - SJ nr Bluff">
            <a:extLst>
              <a:ext uri="{FF2B5EF4-FFF2-40B4-BE49-F238E27FC236}">
                <a16:creationId xmlns:a16="http://schemas.microsoft.com/office/drawing/2014/main" id="{E6488C94-83B9-CA6C-3839-81A12E17D5F3}"/>
              </a:ext>
            </a:extLst>
          </p:cNvPr>
          <p:cNvSpPr txBox="1"/>
          <p:nvPr/>
        </p:nvSpPr>
        <p:spPr>
          <a:xfrm>
            <a:off x="8366027" y="1684422"/>
            <a:ext cx="879573" cy="8309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i="1" dirty="0">
                <a:solidFill>
                  <a:srgbClr val="FACC15"/>
                </a:solidFill>
                <a:effectLst>
                  <a:glow rad="101600">
                    <a:schemeClr val="tx1">
                      <a:alpha val="70000"/>
                    </a:schemeClr>
                  </a:glow>
                </a:effectLst>
                <a:latin typeface="Inter"/>
              </a:rPr>
              <a:t>Animas River basin</a:t>
            </a:r>
          </a:p>
        </p:txBody>
      </p:sp>
      <p:sp>
        <p:nvSpPr>
          <p:cNvPr id="65" name="Label - SJ nr Bluff">
            <a:extLst>
              <a:ext uri="{FF2B5EF4-FFF2-40B4-BE49-F238E27FC236}">
                <a16:creationId xmlns:a16="http://schemas.microsoft.com/office/drawing/2014/main" id="{D643460B-CFBF-1668-FEA9-437B8FE5A486}"/>
              </a:ext>
            </a:extLst>
          </p:cNvPr>
          <p:cNvSpPr txBox="1"/>
          <p:nvPr/>
        </p:nvSpPr>
        <p:spPr>
          <a:xfrm>
            <a:off x="10118627" y="2166614"/>
            <a:ext cx="943073" cy="8309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i="1" dirty="0">
                <a:solidFill>
                  <a:srgbClr val="FACC15"/>
                </a:solidFill>
                <a:effectLst>
                  <a:glow rad="101600">
                    <a:schemeClr val="tx1">
                      <a:alpha val="70000"/>
                    </a:schemeClr>
                  </a:glow>
                </a:effectLst>
                <a:latin typeface="Inter"/>
              </a:rPr>
              <a:t>Navajo Reservoir basin</a:t>
            </a:r>
          </a:p>
        </p:txBody>
      </p:sp>
    </p:spTree>
    <p:extLst>
      <p:ext uri="{BB962C8B-B14F-4D97-AF65-F5344CB8AC3E}">
        <p14:creationId xmlns:p14="http://schemas.microsoft.com/office/powerpoint/2010/main" val="2327830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83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Schwenk, Jon</dc:creator>
  <cp:lastModifiedBy>Schwenk, Jon</cp:lastModifiedBy>
  <cp:revision>5</cp:revision>
  <dcterms:created xsi:type="dcterms:W3CDTF">2026-08-04T21:21:15Z</dcterms:created>
  <dcterms:modified xsi:type="dcterms:W3CDTF">2026-08-04T22:30:52Z</dcterms:modified>
</cp:coreProperties>
</file>