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9" r:id="rId2"/>
  </p:sldIdLst>
  <p:sldSz cx="6858000" cy="4781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AED"/>
    <a:srgbClr val="B91C1C"/>
    <a:srgbClr val="FFFFFF"/>
    <a:srgbClr val="D97706"/>
    <a:srgbClr val="0891B2"/>
    <a:srgbClr val="1D4ED8"/>
    <a:srgbClr val="111827"/>
    <a:srgbClr val="2CA2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5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4926" y="384"/>
      </p:cViewPr>
      <p:guideLst>
        <p:guide orient="horz" pos="150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97D44-5EFE-4F9A-A795-905516EB024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16025" y="1143000"/>
            <a:ext cx="4425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433B-F350-4238-B4A6-076738D33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5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1pPr>
    <a:lvl2pPr marL="369555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2pPr>
    <a:lvl3pPr marL="739110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3pPr>
    <a:lvl4pPr marL="1108664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4pPr>
    <a:lvl5pPr marL="1478219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5pPr>
    <a:lvl6pPr marL="1847774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6pPr>
    <a:lvl7pPr marL="2217329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7pPr>
    <a:lvl8pPr marL="2586883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8pPr>
    <a:lvl9pPr marL="2956438" algn="l" defTabSz="739110" rtl="0" eaLnBrk="1" latinLnBrk="0" hangingPunct="1">
      <a:defRPr sz="9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782536"/>
            <a:ext cx="5829300" cy="1664688"/>
          </a:xfrm>
        </p:spPr>
        <p:txBody>
          <a:bodyPr anchor="b"/>
          <a:lstStyle>
            <a:lvl1pPr algn="ctr"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511421"/>
            <a:ext cx="5143500" cy="1154434"/>
          </a:xfrm>
        </p:spPr>
        <p:txBody>
          <a:bodyPr/>
          <a:lstStyle>
            <a:lvl1pPr marL="0" indent="0" algn="ctr">
              <a:buNone/>
              <a:defRPr sz="1673"/>
            </a:lvl1pPr>
            <a:lvl2pPr marL="318760" indent="0" algn="ctr">
              <a:buNone/>
              <a:defRPr sz="1394"/>
            </a:lvl2pPr>
            <a:lvl3pPr marL="637520" indent="0" algn="ctr">
              <a:buNone/>
              <a:defRPr sz="1255"/>
            </a:lvl3pPr>
            <a:lvl4pPr marL="956280" indent="0" algn="ctr">
              <a:buNone/>
              <a:defRPr sz="1116"/>
            </a:lvl4pPr>
            <a:lvl5pPr marL="1275039" indent="0" algn="ctr">
              <a:buNone/>
              <a:defRPr sz="1116"/>
            </a:lvl5pPr>
            <a:lvl6pPr marL="1593799" indent="0" algn="ctr">
              <a:buNone/>
              <a:defRPr sz="1116"/>
            </a:lvl6pPr>
            <a:lvl7pPr marL="1912559" indent="0" algn="ctr">
              <a:buNone/>
              <a:defRPr sz="1116"/>
            </a:lvl7pPr>
            <a:lvl8pPr marL="2231319" indent="0" algn="ctr">
              <a:buNone/>
              <a:defRPr sz="1116"/>
            </a:lvl8pPr>
            <a:lvl9pPr marL="2550079" indent="0" algn="ctr">
              <a:buNone/>
              <a:defRPr sz="11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6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3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192068"/>
            <a:ext cx="5915025" cy="1988992"/>
          </a:xfrm>
        </p:spPr>
        <p:txBody>
          <a:bodyPr anchor="b"/>
          <a:lstStyle>
            <a:lvl1pPr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199876"/>
            <a:ext cx="5915025" cy="1045964"/>
          </a:xfrm>
        </p:spPr>
        <p:txBody>
          <a:bodyPr/>
          <a:lstStyle>
            <a:lvl1pPr marL="0" indent="0">
              <a:buNone/>
              <a:defRPr sz="1673">
                <a:solidFill>
                  <a:schemeClr val="tx1">
                    <a:tint val="82000"/>
                  </a:schemeClr>
                </a:solidFill>
              </a:defRPr>
            </a:lvl1pPr>
            <a:lvl2pPr marL="318760" indent="0">
              <a:buNone/>
              <a:defRPr sz="1394">
                <a:solidFill>
                  <a:schemeClr val="tx1">
                    <a:tint val="82000"/>
                  </a:schemeClr>
                </a:solidFill>
              </a:defRPr>
            </a:lvl2pPr>
            <a:lvl3pPr marL="637520" indent="0">
              <a:buNone/>
              <a:defRPr sz="1255">
                <a:solidFill>
                  <a:schemeClr val="tx1">
                    <a:tint val="82000"/>
                  </a:schemeClr>
                </a:solidFill>
              </a:defRPr>
            </a:lvl3pPr>
            <a:lvl4pPr marL="956280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4pPr>
            <a:lvl5pPr marL="127503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5pPr>
            <a:lvl6pPr marL="159379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6pPr>
            <a:lvl7pPr marL="191255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7pPr>
            <a:lvl8pPr marL="223131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8pPr>
            <a:lvl9pPr marL="255007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35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272866"/>
            <a:ext cx="2914650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272866"/>
            <a:ext cx="2914650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2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54574"/>
            <a:ext cx="5915025" cy="9242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172144"/>
            <a:ext cx="2901255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746594"/>
            <a:ext cx="2901255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172144"/>
            <a:ext cx="2915543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746594"/>
            <a:ext cx="2915543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1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6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18770"/>
            <a:ext cx="2211884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688456"/>
            <a:ext cx="3471863" cy="3398000"/>
          </a:xfrm>
        </p:spPr>
        <p:txBody>
          <a:bodyPr/>
          <a:lstStyle>
            <a:lvl1pPr>
              <a:defRPr sz="2231"/>
            </a:lvl1pPr>
            <a:lvl2pPr>
              <a:defRPr sz="1952"/>
            </a:lvl2pPr>
            <a:lvl3pPr>
              <a:defRPr sz="1673"/>
            </a:lvl3pPr>
            <a:lvl4pPr>
              <a:defRPr sz="1394"/>
            </a:lvl4pPr>
            <a:lvl5pPr>
              <a:defRPr sz="1394"/>
            </a:lvl5pPr>
            <a:lvl6pPr>
              <a:defRPr sz="1394"/>
            </a:lvl6pPr>
            <a:lvl7pPr>
              <a:defRPr sz="1394"/>
            </a:lvl7pPr>
            <a:lvl8pPr>
              <a:defRPr sz="1394"/>
            </a:lvl8pPr>
            <a:lvl9pPr>
              <a:defRPr sz="13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434465"/>
            <a:ext cx="2211884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9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18770"/>
            <a:ext cx="2211884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688456"/>
            <a:ext cx="3471863" cy="3398000"/>
          </a:xfrm>
        </p:spPr>
        <p:txBody>
          <a:bodyPr anchor="t"/>
          <a:lstStyle>
            <a:lvl1pPr marL="0" indent="0">
              <a:buNone/>
              <a:defRPr sz="2231"/>
            </a:lvl1pPr>
            <a:lvl2pPr marL="318760" indent="0">
              <a:buNone/>
              <a:defRPr sz="1952"/>
            </a:lvl2pPr>
            <a:lvl3pPr marL="637520" indent="0">
              <a:buNone/>
              <a:defRPr sz="1673"/>
            </a:lvl3pPr>
            <a:lvl4pPr marL="956280" indent="0">
              <a:buNone/>
              <a:defRPr sz="1394"/>
            </a:lvl4pPr>
            <a:lvl5pPr marL="1275039" indent="0">
              <a:buNone/>
              <a:defRPr sz="1394"/>
            </a:lvl5pPr>
            <a:lvl6pPr marL="1593799" indent="0">
              <a:buNone/>
              <a:defRPr sz="1394"/>
            </a:lvl6pPr>
            <a:lvl7pPr marL="1912559" indent="0">
              <a:buNone/>
              <a:defRPr sz="1394"/>
            </a:lvl7pPr>
            <a:lvl8pPr marL="2231319" indent="0">
              <a:buNone/>
              <a:defRPr sz="1394"/>
            </a:lvl8pPr>
            <a:lvl9pPr marL="2550079" indent="0">
              <a:buNone/>
              <a:defRPr sz="13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434465"/>
            <a:ext cx="2211884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0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7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54573"/>
            <a:ext cx="1478756" cy="40521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54573"/>
            <a:ext cx="4350544" cy="40521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2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54574"/>
            <a:ext cx="5915025" cy="92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272866"/>
            <a:ext cx="5915025" cy="303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431790"/>
            <a:ext cx="1543050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C9CC1-EEE0-4B4B-ACEA-60EB0E46BF8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431790"/>
            <a:ext cx="2314575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431790"/>
            <a:ext cx="1543050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99DCE-C3DA-4995-9511-277EE4845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37520" rtl="0" eaLnBrk="1" latinLnBrk="0" hangingPunct="1">
        <a:lnSpc>
          <a:spcPct val="90000"/>
        </a:lnSpc>
        <a:spcBef>
          <a:spcPct val="0"/>
        </a:spcBef>
        <a:buNone/>
        <a:defRPr sz="30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380" indent="-159380" algn="l" defTabSz="637520" rtl="0" eaLnBrk="1" latinLnBrk="0" hangingPunct="1">
        <a:lnSpc>
          <a:spcPct val="90000"/>
        </a:lnSpc>
        <a:spcBef>
          <a:spcPts val="697"/>
        </a:spcBef>
        <a:buFont typeface="Arial" panose="020B0604020202020204" pitchFamily="34" charset="0"/>
        <a:buChar char="•"/>
        <a:defRPr sz="1952" kern="1200">
          <a:solidFill>
            <a:schemeClr val="tx1"/>
          </a:solidFill>
          <a:latin typeface="+mn-lt"/>
          <a:ea typeface="+mn-ea"/>
          <a:cs typeface="+mn-cs"/>
        </a:defRPr>
      </a:lvl1pPr>
      <a:lvl2pPr marL="47814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79690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394" kern="1200">
          <a:solidFill>
            <a:schemeClr val="tx1"/>
          </a:solidFill>
          <a:latin typeface="+mn-lt"/>
          <a:ea typeface="+mn-ea"/>
          <a:cs typeface="+mn-cs"/>
        </a:defRPr>
      </a:lvl3pPr>
      <a:lvl4pPr marL="11156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43441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75317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207193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39069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7094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1pPr>
      <a:lvl2pPr marL="31876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2pPr>
      <a:lvl3pPr marL="63752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3pPr>
      <a:lvl4pPr marL="95628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27503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59379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191255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23131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55007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77D1-4D7D-5B38-2BFF-AA301D8E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30B4C95C-BBDE-7FE9-CC2A-2BCA5CAF550C}"/>
              </a:ext>
            </a:extLst>
          </p:cNvPr>
          <p:cNvCxnSpPr>
            <a:cxnSpLocks/>
          </p:cNvCxnSpPr>
          <p:nvPr/>
        </p:nvCxnSpPr>
        <p:spPr>
          <a:xfrm rot="10800000">
            <a:off x="3474085" y="1072691"/>
            <a:ext cx="914400" cy="2487168"/>
          </a:xfrm>
          <a:prstGeom prst="bentConnector3">
            <a:avLst>
              <a:gd name="adj1" fmla="val 36723"/>
            </a:avLst>
          </a:prstGeom>
          <a:ln>
            <a:solidFill>
              <a:srgbClr val="B9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Navajo Dam - label">
            <a:extLst>
              <a:ext uri="{FF2B5EF4-FFF2-40B4-BE49-F238E27FC236}">
                <a16:creationId xmlns:a16="http://schemas.microsoft.com/office/drawing/2014/main" id="{7FE976D0-88E3-D891-3628-AA36A4D7042D}"/>
              </a:ext>
            </a:extLst>
          </p:cNvPr>
          <p:cNvSpPr txBox="1"/>
          <p:nvPr/>
        </p:nvSpPr>
        <p:spPr>
          <a:xfrm>
            <a:off x="3809519" y="187137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 dirty="0">
                <a:latin typeface="Inter"/>
              </a:rPr>
              <a:t>NIIP </a:t>
            </a:r>
          </a:p>
          <a:p>
            <a:pPr algn="ctr"/>
            <a:r>
              <a:rPr lang="en-US" sz="1200" b="1" dirty="0">
                <a:latin typeface="Inter"/>
              </a:rPr>
              <a:t>diversion</a:t>
            </a:r>
          </a:p>
        </p:txBody>
      </p:sp>
      <p:sp>
        <p:nvSpPr>
          <p:cNvPr id="11" name="Lake Powell - label">
            <a:extLst>
              <a:ext uri="{FF2B5EF4-FFF2-40B4-BE49-F238E27FC236}">
                <a16:creationId xmlns:a16="http://schemas.microsoft.com/office/drawing/2014/main" id="{C0E30AFF-E4AE-8061-8916-5303FBAEF46A}"/>
              </a:ext>
            </a:extLst>
          </p:cNvPr>
          <p:cNvSpPr txBox="1"/>
          <p:nvPr/>
        </p:nvSpPr>
        <p:spPr>
          <a:xfrm rot="5400000">
            <a:off x="2842645" y="3861861"/>
            <a:ext cx="1133475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300" b="1" i="1" dirty="0">
                <a:solidFill>
                  <a:srgbClr val="2B6CB0"/>
                </a:solidFill>
                <a:latin typeface="Inter"/>
              </a:rPr>
              <a:t>San Juan</a:t>
            </a:r>
          </a:p>
          <a:p>
            <a:pPr algn="ctr"/>
            <a:r>
              <a:rPr lang="en-US" sz="1300" b="1" i="1" dirty="0">
                <a:solidFill>
                  <a:srgbClr val="2B6CB0"/>
                </a:solidFill>
                <a:latin typeface="Inter"/>
              </a:rPr>
              <a:t> River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CF8E60-5BA0-5D3E-F650-F503288D2D7F}"/>
              </a:ext>
            </a:extLst>
          </p:cNvPr>
          <p:cNvCxnSpPr>
            <a:cxnSpLocks/>
          </p:cNvCxnSpPr>
          <p:nvPr/>
        </p:nvCxnSpPr>
        <p:spPr>
          <a:xfrm>
            <a:off x="2465075" y="183515"/>
            <a:ext cx="384175" cy="0"/>
          </a:xfrm>
          <a:prstGeom prst="straightConnector1">
            <a:avLst/>
          </a:prstGeom>
          <a:ln>
            <a:solidFill>
              <a:srgbClr val="11182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ED9F4EC-F2C6-5697-811D-B5A23763E990}"/>
              </a:ext>
            </a:extLst>
          </p:cNvPr>
          <p:cNvCxnSpPr>
            <a:cxnSpLocks/>
          </p:cNvCxnSpPr>
          <p:nvPr/>
        </p:nvCxnSpPr>
        <p:spPr>
          <a:xfrm flipV="1">
            <a:off x="4712976" y="350841"/>
            <a:ext cx="0" cy="439737"/>
          </a:xfrm>
          <a:prstGeom prst="straightConnector1">
            <a:avLst/>
          </a:prstGeom>
          <a:ln>
            <a:solidFill>
              <a:srgbClr val="2CA2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ystem - San Juan mainstem">
            <a:extLst>
              <a:ext uri="{FF2B5EF4-FFF2-40B4-BE49-F238E27FC236}">
                <a16:creationId xmlns:a16="http://schemas.microsoft.com/office/drawing/2014/main" id="{FFF5B82B-724F-0717-2DAB-36D813F8CEA7}"/>
              </a:ext>
            </a:extLst>
          </p:cNvPr>
          <p:cNvCxnSpPr>
            <a:cxnSpLocks/>
          </p:cNvCxnSpPr>
          <p:nvPr/>
        </p:nvCxnSpPr>
        <p:spPr>
          <a:xfrm flipV="1">
            <a:off x="3418994" y="403001"/>
            <a:ext cx="0" cy="4156934"/>
          </a:xfrm>
          <a:prstGeom prst="line">
            <a:avLst/>
          </a:prstGeom>
          <a:ln w="4064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ystem - San Juan mainstem">
            <a:extLst>
              <a:ext uri="{FF2B5EF4-FFF2-40B4-BE49-F238E27FC236}">
                <a16:creationId xmlns:a16="http://schemas.microsoft.com/office/drawing/2014/main" id="{42A08704-8229-1B97-BAD1-F8DDB2FBB401}"/>
              </a:ext>
            </a:extLst>
          </p:cNvPr>
          <p:cNvCxnSpPr>
            <a:cxnSpLocks/>
          </p:cNvCxnSpPr>
          <p:nvPr/>
        </p:nvCxnSpPr>
        <p:spPr>
          <a:xfrm flipH="1">
            <a:off x="3926999" y="320451"/>
            <a:ext cx="1017751" cy="0"/>
          </a:xfrm>
          <a:prstGeom prst="line">
            <a:avLst/>
          </a:prstGeom>
          <a:ln w="40640">
            <a:solidFill>
              <a:schemeClr val="tx2">
                <a:lumMod val="25000"/>
                <a:lumOff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Lake Powell">
            <a:extLst>
              <a:ext uri="{FF2B5EF4-FFF2-40B4-BE49-F238E27FC236}">
                <a16:creationId xmlns:a16="http://schemas.microsoft.com/office/drawing/2014/main" id="{82C9DE81-624F-1394-4DF1-AA857DCF75C5}"/>
              </a:ext>
            </a:extLst>
          </p:cNvPr>
          <p:cNvGrpSpPr/>
          <p:nvPr/>
        </p:nvGrpSpPr>
        <p:grpSpPr>
          <a:xfrm>
            <a:off x="2848545" y="4378453"/>
            <a:ext cx="1140909" cy="374522"/>
            <a:chOff x="161925" y="3506216"/>
            <a:chExt cx="1140909" cy="500888"/>
          </a:xfrm>
        </p:grpSpPr>
        <p:sp>
          <p:nvSpPr>
            <p:cNvPr id="6" name="Lake Powell - shape">
              <a:extLst>
                <a:ext uri="{FF2B5EF4-FFF2-40B4-BE49-F238E27FC236}">
                  <a16:creationId xmlns:a16="http://schemas.microsoft.com/office/drawing/2014/main" id="{7BF8F8C7-2B4D-079E-A62E-B5217A11350C}"/>
                </a:ext>
              </a:extLst>
            </p:cNvPr>
            <p:cNvSpPr/>
            <p:nvPr/>
          </p:nvSpPr>
          <p:spPr>
            <a:xfrm>
              <a:off x="161925" y="3506216"/>
              <a:ext cx="1133475" cy="500888"/>
            </a:xfrm>
            <a:prstGeom prst="roundRect">
              <a:avLst/>
            </a:prstGeom>
            <a:solidFill>
              <a:srgbClr val="DBEAFE"/>
            </a:solidFill>
            <a:ln w="19050">
              <a:solidFill>
                <a:srgbClr val="2B6C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7" name="Lake Powell - label">
              <a:extLst>
                <a:ext uri="{FF2B5EF4-FFF2-40B4-BE49-F238E27FC236}">
                  <a16:creationId xmlns:a16="http://schemas.microsoft.com/office/drawing/2014/main" id="{3EB70C2D-D519-9DED-4188-88B5BE834D63}"/>
                </a:ext>
              </a:extLst>
            </p:cNvPr>
            <p:cNvSpPr txBox="1"/>
            <p:nvPr/>
          </p:nvSpPr>
          <p:spPr>
            <a:xfrm>
              <a:off x="169359" y="3602860"/>
              <a:ext cx="1133475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2B6CB0"/>
                  </a:solidFill>
                  <a:latin typeface="Inter"/>
                </a:rPr>
                <a:t>Lake Powell</a:t>
              </a:r>
            </a:p>
          </p:txBody>
        </p:sp>
      </p:grpSp>
      <p:sp>
        <p:nvSpPr>
          <p:cNvPr id="14" name="Gage - Bluff marker">
            <a:extLst>
              <a:ext uri="{FF2B5EF4-FFF2-40B4-BE49-F238E27FC236}">
                <a16:creationId xmlns:a16="http://schemas.microsoft.com/office/drawing/2014/main" id="{E2C756CD-949B-9204-36F4-B551F1B93159}"/>
              </a:ext>
            </a:extLst>
          </p:cNvPr>
          <p:cNvSpPr/>
          <p:nvPr/>
        </p:nvSpPr>
        <p:spPr>
          <a:xfrm>
            <a:off x="3355494" y="3326765"/>
            <a:ext cx="127000" cy="1270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5" name="Gage - Bluff label">
            <a:extLst>
              <a:ext uri="{FF2B5EF4-FFF2-40B4-BE49-F238E27FC236}">
                <a16:creationId xmlns:a16="http://schemas.microsoft.com/office/drawing/2014/main" id="{18504F55-B180-407F-E938-E61A65C6B317}"/>
              </a:ext>
            </a:extLst>
          </p:cNvPr>
          <p:cNvSpPr txBox="1"/>
          <p:nvPr/>
        </p:nvSpPr>
        <p:spPr>
          <a:xfrm>
            <a:off x="2875731" y="3388516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827"/>
                </a:solidFill>
                <a:latin typeface="Inter"/>
              </a:rPr>
              <a:t>Bluff</a:t>
            </a:r>
          </a:p>
        </p:txBody>
      </p:sp>
      <p:sp>
        <p:nvSpPr>
          <p:cNvPr id="16" name="Gage - Four Corners marker">
            <a:extLst>
              <a:ext uri="{FF2B5EF4-FFF2-40B4-BE49-F238E27FC236}">
                <a16:creationId xmlns:a16="http://schemas.microsoft.com/office/drawing/2014/main" id="{A60616F4-3B6D-3284-ECF8-FA7BF0E03569}"/>
              </a:ext>
            </a:extLst>
          </p:cNvPr>
          <p:cNvSpPr/>
          <p:nvPr/>
        </p:nvSpPr>
        <p:spPr>
          <a:xfrm>
            <a:off x="3368194" y="2833058"/>
            <a:ext cx="101600" cy="101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7" name="Gage - Four Corners label">
            <a:extLst>
              <a:ext uri="{FF2B5EF4-FFF2-40B4-BE49-F238E27FC236}">
                <a16:creationId xmlns:a16="http://schemas.microsoft.com/office/drawing/2014/main" id="{4150054E-2F55-F875-837D-B97713111DC9}"/>
              </a:ext>
            </a:extLst>
          </p:cNvPr>
          <p:cNvSpPr txBox="1"/>
          <p:nvPr/>
        </p:nvSpPr>
        <p:spPr>
          <a:xfrm>
            <a:off x="2875731" y="2877423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1" dirty="0">
                <a:solidFill>
                  <a:srgbClr val="64748B"/>
                </a:solidFill>
                <a:latin typeface="Inter"/>
              </a:rPr>
              <a:t>Four Corners</a:t>
            </a:r>
          </a:p>
        </p:txBody>
      </p:sp>
      <p:sp>
        <p:nvSpPr>
          <p:cNvPr id="18" name="Gage - Shiprock marker">
            <a:extLst>
              <a:ext uri="{FF2B5EF4-FFF2-40B4-BE49-F238E27FC236}">
                <a16:creationId xmlns:a16="http://schemas.microsoft.com/office/drawing/2014/main" id="{B00910B8-00FB-AAF6-9DDA-941A4466B7DF}"/>
              </a:ext>
            </a:extLst>
          </p:cNvPr>
          <p:cNvSpPr/>
          <p:nvPr/>
        </p:nvSpPr>
        <p:spPr>
          <a:xfrm>
            <a:off x="3368194" y="2177428"/>
            <a:ext cx="101600" cy="101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9" name="Gage - Shiprock label">
            <a:extLst>
              <a:ext uri="{FF2B5EF4-FFF2-40B4-BE49-F238E27FC236}">
                <a16:creationId xmlns:a16="http://schemas.microsoft.com/office/drawing/2014/main" id="{ECE32627-CED8-583C-F475-F3665641448D}"/>
              </a:ext>
            </a:extLst>
          </p:cNvPr>
          <p:cNvSpPr txBox="1"/>
          <p:nvPr/>
        </p:nvSpPr>
        <p:spPr>
          <a:xfrm>
            <a:off x="2875731" y="222719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1" dirty="0">
                <a:solidFill>
                  <a:srgbClr val="64748B"/>
                </a:solidFill>
                <a:latin typeface="Inter"/>
              </a:rPr>
              <a:t>Shiprock</a:t>
            </a:r>
          </a:p>
        </p:txBody>
      </p:sp>
      <p:sp>
        <p:nvSpPr>
          <p:cNvPr id="20" name="Gage - Farmington marker">
            <a:extLst>
              <a:ext uri="{FF2B5EF4-FFF2-40B4-BE49-F238E27FC236}">
                <a16:creationId xmlns:a16="http://schemas.microsoft.com/office/drawing/2014/main" id="{EE712162-8EA9-7BA9-54B4-4C405F6D2BDE}"/>
              </a:ext>
            </a:extLst>
          </p:cNvPr>
          <p:cNvSpPr/>
          <p:nvPr/>
        </p:nvSpPr>
        <p:spPr>
          <a:xfrm>
            <a:off x="3355494" y="1588135"/>
            <a:ext cx="127000" cy="1270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1" name="Gage - Farmington label">
            <a:extLst>
              <a:ext uri="{FF2B5EF4-FFF2-40B4-BE49-F238E27FC236}">
                <a16:creationId xmlns:a16="http://schemas.microsoft.com/office/drawing/2014/main" id="{6CC65F1F-9ED9-BAD6-BCC9-1C973E87AD5F}"/>
              </a:ext>
            </a:extLst>
          </p:cNvPr>
          <p:cNvSpPr txBox="1"/>
          <p:nvPr/>
        </p:nvSpPr>
        <p:spPr>
          <a:xfrm>
            <a:off x="2875731" y="1649505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827"/>
                </a:solidFill>
                <a:latin typeface="Inter"/>
              </a:rPr>
              <a:t>Farmington</a:t>
            </a:r>
          </a:p>
        </p:txBody>
      </p:sp>
      <p:sp>
        <p:nvSpPr>
          <p:cNvPr id="22" name="Gage - Archuleta marker">
            <a:extLst>
              <a:ext uri="{FF2B5EF4-FFF2-40B4-BE49-F238E27FC236}">
                <a16:creationId xmlns:a16="http://schemas.microsoft.com/office/drawing/2014/main" id="{94EF96F8-F65C-6CD7-EA76-E74FB2761116}"/>
              </a:ext>
            </a:extLst>
          </p:cNvPr>
          <p:cNvSpPr/>
          <p:nvPr/>
        </p:nvSpPr>
        <p:spPr>
          <a:xfrm>
            <a:off x="3368194" y="1015365"/>
            <a:ext cx="101600" cy="101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grpSp>
        <p:nvGrpSpPr>
          <p:cNvPr id="115" name="Lake Powell">
            <a:extLst>
              <a:ext uri="{FF2B5EF4-FFF2-40B4-BE49-F238E27FC236}">
                <a16:creationId xmlns:a16="http://schemas.microsoft.com/office/drawing/2014/main" id="{C13E8143-43B3-FD9F-BDFE-F9199506F019}"/>
              </a:ext>
            </a:extLst>
          </p:cNvPr>
          <p:cNvGrpSpPr/>
          <p:nvPr/>
        </p:nvGrpSpPr>
        <p:grpSpPr>
          <a:xfrm>
            <a:off x="2848545" y="32364"/>
            <a:ext cx="1140909" cy="500888"/>
            <a:chOff x="161925" y="3506216"/>
            <a:chExt cx="1140909" cy="500888"/>
          </a:xfrm>
        </p:grpSpPr>
        <p:sp>
          <p:nvSpPr>
            <p:cNvPr id="116" name="Lake Powell - shape">
              <a:extLst>
                <a:ext uri="{FF2B5EF4-FFF2-40B4-BE49-F238E27FC236}">
                  <a16:creationId xmlns:a16="http://schemas.microsoft.com/office/drawing/2014/main" id="{C16FCC83-5333-0A99-BD44-448C6F316274}"/>
                </a:ext>
              </a:extLst>
            </p:cNvPr>
            <p:cNvSpPr/>
            <p:nvPr/>
          </p:nvSpPr>
          <p:spPr>
            <a:xfrm>
              <a:off x="161925" y="3506216"/>
              <a:ext cx="1133475" cy="500888"/>
            </a:xfrm>
            <a:prstGeom prst="roundRect">
              <a:avLst/>
            </a:prstGeom>
            <a:solidFill>
              <a:srgbClr val="DBEAFE"/>
            </a:solidFill>
            <a:ln w="19050">
              <a:solidFill>
                <a:srgbClr val="2B6C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17" name="Lake Powell - label">
              <a:extLst>
                <a:ext uri="{FF2B5EF4-FFF2-40B4-BE49-F238E27FC236}">
                  <a16:creationId xmlns:a16="http://schemas.microsoft.com/office/drawing/2014/main" id="{137D889B-0B61-6FFD-65A9-7AD9E5D5FD83}"/>
                </a:ext>
              </a:extLst>
            </p:cNvPr>
            <p:cNvSpPr txBox="1"/>
            <p:nvPr/>
          </p:nvSpPr>
          <p:spPr>
            <a:xfrm>
              <a:off x="169359" y="3602860"/>
              <a:ext cx="1133475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2B6CB0"/>
                  </a:solidFill>
                  <a:latin typeface="Inter"/>
                </a:rPr>
                <a:t>Navajo Reservoir</a:t>
              </a:r>
            </a:p>
          </p:txBody>
        </p:sp>
      </p:grpSp>
      <p:sp>
        <p:nvSpPr>
          <p:cNvPr id="119" name="Gage - Shiprock label">
            <a:extLst>
              <a:ext uri="{FF2B5EF4-FFF2-40B4-BE49-F238E27FC236}">
                <a16:creationId xmlns:a16="http://schemas.microsoft.com/office/drawing/2014/main" id="{23D7A0E4-B8E4-2CE3-5438-CC62F84BCAE3}"/>
              </a:ext>
            </a:extLst>
          </p:cNvPr>
          <p:cNvSpPr txBox="1"/>
          <p:nvPr/>
        </p:nvSpPr>
        <p:spPr>
          <a:xfrm>
            <a:off x="2875731" y="1044506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1" dirty="0">
                <a:solidFill>
                  <a:srgbClr val="64748B"/>
                </a:solidFill>
                <a:latin typeface="Inter"/>
              </a:rPr>
              <a:t>Archuleta</a:t>
            </a:r>
          </a:p>
        </p:txBody>
      </p:sp>
      <p:sp>
        <p:nvSpPr>
          <p:cNvPr id="121" name="Navajo Dam - label">
            <a:extLst>
              <a:ext uri="{FF2B5EF4-FFF2-40B4-BE49-F238E27FC236}">
                <a16:creationId xmlns:a16="http://schemas.microsoft.com/office/drawing/2014/main" id="{70836C4D-E261-8BF1-6354-AF0EAF11C4D8}"/>
              </a:ext>
            </a:extLst>
          </p:cNvPr>
          <p:cNvSpPr txBox="1"/>
          <p:nvPr/>
        </p:nvSpPr>
        <p:spPr>
          <a:xfrm>
            <a:off x="2879244" y="533209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 dirty="0">
                <a:latin typeface="Inter"/>
              </a:rPr>
              <a:t>Navajo Dam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E4F08A-B8CB-F2B4-C189-2ABD885B6987}"/>
              </a:ext>
            </a:extLst>
          </p:cNvPr>
          <p:cNvGrpSpPr/>
          <p:nvPr/>
        </p:nvGrpSpPr>
        <p:grpSpPr>
          <a:xfrm>
            <a:off x="106074" y="3211343"/>
            <a:ext cx="2533650" cy="1352271"/>
            <a:chOff x="4546600" y="2597429"/>
            <a:chExt cx="2533650" cy="1352271"/>
          </a:xfrm>
        </p:grpSpPr>
        <p:sp>
          <p:nvSpPr>
            <p:cNvPr id="123" name="Objective - Spring peak release - body">
              <a:extLst>
                <a:ext uri="{FF2B5EF4-FFF2-40B4-BE49-F238E27FC236}">
                  <a16:creationId xmlns:a16="http://schemas.microsoft.com/office/drawing/2014/main" id="{44CF375B-E6B0-E6BF-582C-F81D1FBEC54F}"/>
                </a:ext>
              </a:extLst>
            </p:cNvPr>
            <p:cNvSpPr/>
            <p:nvPr/>
          </p:nvSpPr>
          <p:spPr>
            <a:xfrm>
              <a:off x="4546600" y="2604864"/>
              <a:ext cx="2408555" cy="1344836"/>
            </a:xfrm>
            <a:prstGeom prst="roundRect">
              <a:avLst>
                <a:gd name="adj" fmla="val 9443"/>
              </a:avLst>
            </a:prstGeom>
            <a:solidFill>
              <a:srgbClr val="FFFFFF"/>
            </a:solidFill>
            <a:ln w="20320">
              <a:solidFill>
                <a:srgbClr val="7C3A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25" name="Objective - Spring peak release - header lower edge">
              <a:extLst>
                <a:ext uri="{FF2B5EF4-FFF2-40B4-BE49-F238E27FC236}">
                  <a16:creationId xmlns:a16="http://schemas.microsoft.com/office/drawing/2014/main" id="{7742E2F7-756F-4F33-7ACD-43A16EF70E39}"/>
                </a:ext>
              </a:extLst>
            </p:cNvPr>
            <p:cNvSpPr/>
            <p:nvPr/>
          </p:nvSpPr>
          <p:spPr>
            <a:xfrm>
              <a:off x="4552950" y="2713019"/>
              <a:ext cx="2408555" cy="183511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29" name="Objective - Spring peak release - criterion text">
              <a:extLst>
                <a:ext uri="{FF2B5EF4-FFF2-40B4-BE49-F238E27FC236}">
                  <a16:creationId xmlns:a16="http://schemas.microsoft.com/office/drawing/2014/main" id="{43BC2A3E-B7CE-C90E-AAAC-D9DBA7194EC5}"/>
                </a:ext>
              </a:extLst>
            </p:cNvPr>
            <p:cNvSpPr txBox="1"/>
            <p:nvPr/>
          </p:nvSpPr>
          <p:spPr>
            <a:xfrm>
              <a:off x="4552949" y="2899182"/>
              <a:ext cx="2527301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Match annual event-attainment frequencies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10,000 cfs / 5 d: 20%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8,000 cfs / 10 d: 33%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5,000 cfs / 21 d: 50%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2,500 cfs / 10 d: 80%</a:t>
              </a:r>
            </a:p>
          </p:txBody>
        </p:sp>
        <p:sp>
          <p:nvSpPr>
            <p:cNvPr id="124" name="Objective - Spring peak release - header">
              <a:extLst>
                <a:ext uri="{FF2B5EF4-FFF2-40B4-BE49-F238E27FC236}">
                  <a16:creationId xmlns:a16="http://schemas.microsoft.com/office/drawing/2014/main" id="{5CE65485-2AEF-D87E-F0A1-73E3F0152F86}"/>
                </a:ext>
              </a:extLst>
            </p:cNvPr>
            <p:cNvSpPr/>
            <p:nvPr/>
          </p:nvSpPr>
          <p:spPr>
            <a:xfrm>
              <a:off x="4552951" y="2597429"/>
              <a:ext cx="2408554" cy="287274"/>
            </a:xfrm>
            <a:prstGeom prst="roundRect">
              <a:avLst>
                <a:gd name="adj" fmla="val 35157"/>
              </a:avLst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>
                  <a:solidFill>
                    <a:srgbClr val="FFFFFF"/>
                  </a:solidFill>
                  <a:latin typeface="Inter"/>
                </a:rPr>
                <a:t>Spring peak release</a:t>
              </a:r>
            </a:p>
          </p:txBody>
        </p:sp>
        <p:sp>
          <p:nvSpPr>
            <p:cNvPr id="173" name="Objective - Spring peak release - priority badge">
              <a:extLst>
                <a:ext uri="{FF2B5EF4-FFF2-40B4-BE49-F238E27FC236}">
                  <a16:creationId xmlns:a16="http://schemas.microsoft.com/office/drawing/2014/main" id="{63DB19E7-EA3D-27C1-E1B4-629E84111174}"/>
                </a:ext>
              </a:extLst>
            </p:cNvPr>
            <p:cNvSpPr/>
            <p:nvPr/>
          </p:nvSpPr>
          <p:spPr>
            <a:xfrm>
              <a:off x="6077107" y="2646705"/>
              <a:ext cx="744698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7C3A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7C3AED"/>
                  </a:solidFill>
                </a:rPr>
                <a:t>Priority 2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CA0981-BA35-57CA-9707-B65E97467D97}"/>
              </a:ext>
            </a:extLst>
          </p:cNvPr>
          <p:cNvGrpSpPr/>
          <p:nvPr/>
        </p:nvGrpSpPr>
        <p:grpSpPr>
          <a:xfrm>
            <a:off x="4323484" y="2097109"/>
            <a:ext cx="2399896" cy="931004"/>
            <a:chOff x="510026" y="2743163"/>
            <a:chExt cx="2399896" cy="931004"/>
          </a:xfrm>
        </p:grpSpPr>
        <p:sp>
          <p:nvSpPr>
            <p:cNvPr id="175" name="Objective - Spring peak release - body">
              <a:extLst>
                <a:ext uri="{FF2B5EF4-FFF2-40B4-BE49-F238E27FC236}">
                  <a16:creationId xmlns:a16="http://schemas.microsoft.com/office/drawing/2014/main" id="{D44B8E6E-67F8-77BD-E1B8-A8A89FB8125E}"/>
                </a:ext>
              </a:extLst>
            </p:cNvPr>
            <p:cNvSpPr/>
            <p:nvPr/>
          </p:nvSpPr>
          <p:spPr>
            <a:xfrm>
              <a:off x="510026" y="2758032"/>
              <a:ext cx="2399896" cy="916135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D977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77" name="Objective - Spring peak release - header lower edge">
              <a:extLst>
                <a:ext uri="{FF2B5EF4-FFF2-40B4-BE49-F238E27FC236}">
                  <a16:creationId xmlns:a16="http://schemas.microsoft.com/office/drawing/2014/main" id="{A8213ED2-1A99-1AA0-F225-C1F0E491526E}"/>
                </a:ext>
              </a:extLst>
            </p:cNvPr>
            <p:cNvSpPr/>
            <p:nvPr/>
          </p:nvSpPr>
          <p:spPr>
            <a:xfrm>
              <a:off x="510026" y="2894839"/>
              <a:ext cx="2393546" cy="136984"/>
            </a:xfrm>
            <a:prstGeom prst="rect">
              <a:avLst/>
            </a:prstGeom>
            <a:solidFill>
              <a:srgbClr val="D97706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81" name="Objective - Spring peak release - criterion text">
              <a:extLst>
                <a:ext uri="{FF2B5EF4-FFF2-40B4-BE49-F238E27FC236}">
                  <a16:creationId xmlns:a16="http://schemas.microsoft.com/office/drawing/2014/main" id="{FEC55BFF-2E70-AFCD-E771-3130D8C55317}"/>
                </a:ext>
              </a:extLst>
            </p:cNvPr>
            <p:cNvSpPr txBox="1"/>
            <p:nvPr/>
          </p:nvSpPr>
          <p:spPr>
            <a:xfrm>
              <a:off x="528611" y="3096800"/>
              <a:ext cx="2356624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Maximize efficient generation</a:t>
              </a:r>
            </a:p>
            <a:p>
              <a:pPr algn="ctr">
                <a:spcAft>
                  <a:spcPts val="200"/>
                </a:spcAft>
              </a:pPr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Hydropower /maximum possible</a:t>
              </a:r>
            </a:p>
            <a:p>
              <a:pPr algn="ctr">
                <a:spcAft>
                  <a:spcPts val="200"/>
                </a:spcAft>
              </a:pPr>
              <a:endParaRPr lang="en-US" sz="1100" b="1" dirty="0">
                <a:solidFill>
                  <a:srgbClr val="111827"/>
                </a:solidFill>
                <a:latin typeface="Inter"/>
              </a:endParaRPr>
            </a:p>
            <a:p>
              <a:pPr algn="ctr">
                <a:spcAft>
                  <a:spcPts val="200"/>
                </a:spcAft>
              </a:pPr>
              <a:endParaRPr lang="en-US" sz="1100" b="1" dirty="0">
                <a:solidFill>
                  <a:srgbClr val="111827"/>
                </a:solidFill>
                <a:latin typeface="Inter"/>
              </a:endParaRPr>
            </a:p>
            <a:p>
              <a:pPr algn="ctr">
                <a:spcAft>
                  <a:spcPts val="200"/>
                </a:spcAft>
              </a:pPr>
              <a:endParaRPr lang="en-US" sz="1100" dirty="0">
                <a:solidFill>
                  <a:srgbClr val="111827"/>
                </a:solidFill>
                <a:latin typeface="Inter"/>
              </a:endParaRPr>
            </a:p>
          </p:txBody>
        </p:sp>
        <p:sp>
          <p:nvSpPr>
            <p:cNvPr id="183" name="Objective - Spring peak release - header">
              <a:extLst>
                <a:ext uri="{FF2B5EF4-FFF2-40B4-BE49-F238E27FC236}">
                  <a16:creationId xmlns:a16="http://schemas.microsoft.com/office/drawing/2014/main" id="{A4BD4E87-DAED-73A3-3532-E58F04FBEEFB}"/>
                </a:ext>
              </a:extLst>
            </p:cNvPr>
            <p:cNvSpPr/>
            <p:nvPr/>
          </p:nvSpPr>
          <p:spPr>
            <a:xfrm>
              <a:off x="510026" y="2743163"/>
              <a:ext cx="2390371" cy="287274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Hydropower</a:t>
              </a:r>
            </a:p>
          </p:txBody>
        </p:sp>
        <p:sp>
          <p:nvSpPr>
            <p:cNvPr id="185" name="Objective - Spring peak release - priority badge">
              <a:extLst>
                <a:ext uri="{FF2B5EF4-FFF2-40B4-BE49-F238E27FC236}">
                  <a16:creationId xmlns:a16="http://schemas.microsoft.com/office/drawing/2014/main" id="{B3BFF1DE-694E-6058-109D-6976E356A394}"/>
                </a:ext>
              </a:extLst>
            </p:cNvPr>
            <p:cNvSpPr/>
            <p:nvPr/>
          </p:nvSpPr>
          <p:spPr>
            <a:xfrm>
              <a:off x="2038047" y="2790085"/>
              <a:ext cx="751225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D977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D97706"/>
                  </a:solidFill>
                </a:rPr>
                <a:t>Priority 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E14500-45D5-0532-A68A-D41735E7A3EB}"/>
              </a:ext>
            </a:extLst>
          </p:cNvPr>
          <p:cNvGrpSpPr/>
          <p:nvPr/>
        </p:nvGrpSpPr>
        <p:grpSpPr>
          <a:xfrm>
            <a:off x="4328247" y="779395"/>
            <a:ext cx="2401228" cy="931004"/>
            <a:chOff x="4666067" y="1157220"/>
            <a:chExt cx="2401228" cy="931004"/>
          </a:xfrm>
        </p:grpSpPr>
        <p:sp>
          <p:nvSpPr>
            <p:cNvPr id="187" name="Objective - Spring peak release - body">
              <a:extLst>
                <a:ext uri="{FF2B5EF4-FFF2-40B4-BE49-F238E27FC236}">
                  <a16:creationId xmlns:a16="http://schemas.microsoft.com/office/drawing/2014/main" id="{3112D439-B4FB-C29B-6968-B1BBF06573D9}"/>
                </a:ext>
              </a:extLst>
            </p:cNvPr>
            <p:cNvSpPr/>
            <p:nvPr/>
          </p:nvSpPr>
          <p:spPr>
            <a:xfrm>
              <a:off x="4666069" y="1172089"/>
              <a:ext cx="2393793" cy="916135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2CA2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89" name="Objective - Spring peak release - header lower edge">
              <a:extLst>
                <a:ext uri="{FF2B5EF4-FFF2-40B4-BE49-F238E27FC236}">
                  <a16:creationId xmlns:a16="http://schemas.microsoft.com/office/drawing/2014/main" id="{936E48C6-AB90-E9E5-F3B0-2D6C1E66C091}"/>
                </a:ext>
              </a:extLst>
            </p:cNvPr>
            <p:cNvSpPr/>
            <p:nvPr/>
          </p:nvSpPr>
          <p:spPr>
            <a:xfrm>
              <a:off x="4666067" y="1302546"/>
              <a:ext cx="2401228" cy="146341"/>
            </a:xfrm>
            <a:prstGeom prst="rect">
              <a:avLst/>
            </a:prstGeom>
            <a:solidFill>
              <a:srgbClr val="2CA25F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91" name="Objective - Spring peak release - criterion text">
              <a:extLst>
                <a:ext uri="{FF2B5EF4-FFF2-40B4-BE49-F238E27FC236}">
                  <a16:creationId xmlns:a16="http://schemas.microsoft.com/office/drawing/2014/main" id="{02916153-242B-6710-96F7-9C0BBCF666DB}"/>
                </a:ext>
              </a:extLst>
            </p:cNvPr>
            <p:cNvSpPr txBox="1"/>
            <p:nvPr/>
          </p:nvSpPr>
          <p:spPr>
            <a:xfrm>
              <a:off x="4684652" y="1510857"/>
              <a:ext cx="232317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>
                  <a:solidFill>
                    <a:srgbClr val="111827"/>
                  </a:solidFill>
                  <a:latin typeface="Inter"/>
                </a:rPr>
                <a:t>Match historic NIIP</a:t>
              </a:r>
            </a:p>
            <a:p>
              <a:pPr algn="ctr"/>
              <a:r>
                <a:rPr lang="en-US" sz="1100" b="1">
                  <a:solidFill>
                    <a:srgbClr val="111827"/>
                  </a:solidFill>
                  <a:latin typeface="Inter"/>
                </a:rPr>
                <a:t>delivery proxy</a:t>
              </a:r>
            </a:p>
            <a:p>
              <a:pPr algn="ctr"/>
              <a:r>
                <a:rPr lang="en-US" sz="1000">
                  <a:solidFill>
                    <a:srgbClr val="111827"/>
                  </a:solidFill>
                  <a:latin typeface="Inter"/>
                </a:rPr>
                <a:t>Complete-season delivery / proxy ≥ 100%</a:t>
              </a:r>
              <a:endParaRPr lang="en-US" sz="1000" dirty="0">
                <a:solidFill>
                  <a:srgbClr val="111827"/>
                </a:solidFill>
                <a:latin typeface="Inter"/>
              </a:endParaRPr>
            </a:p>
          </p:txBody>
        </p:sp>
        <p:sp>
          <p:nvSpPr>
            <p:cNvPr id="193" name="Objective - Spring peak release - header">
              <a:extLst>
                <a:ext uri="{FF2B5EF4-FFF2-40B4-BE49-F238E27FC236}">
                  <a16:creationId xmlns:a16="http://schemas.microsoft.com/office/drawing/2014/main" id="{37874DD7-86AB-F6F3-864A-A86B5CD87205}"/>
                </a:ext>
              </a:extLst>
            </p:cNvPr>
            <p:cNvSpPr/>
            <p:nvPr/>
          </p:nvSpPr>
          <p:spPr>
            <a:xfrm>
              <a:off x="4666067" y="1157220"/>
              <a:ext cx="2393794" cy="287274"/>
            </a:xfrm>
            <a:prstGeom prst="roundRect">
              <a:avLst>
                <a:gd name="adj" fmla="val 50000"/>
              </a:avLst>
            </a:prstGeom>
            <a:solidFill>
              <a:srgbClr val="2CA25F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NIIP delivery</a:t>
              </a:r>
            </a:p>
          </p:txBody>
        </p:sp>
        <p:sp>
          <p:nvSpPr>
            <p:cNvPr id="195" name="Objective - Spring peak release - priority badge">
              <a:extLst>
                <a:ext uri="{FF2B5EF4-FFF2-40B4-BE49-F238E27FC236}">
                  <a16:creationId xmlns:a16="http://schemas.microsoft.com/office/drawing/2014/main" id="{D79B3106-D3A9-77FA-70A4-238500E835D6}"/>
                </a:ext>
              </a:extLst>
            </p:cNvPr>
            <p:cNvSpPr/>
            <p:nvPr/>
          </p:nvSpPr>
          <p:spPr>
            <a:xfrm>
              <a:off x="6188075" y="1204142"/>
              <a:ext cx="739776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2CA2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2CA25F"/>
                  </a:solidFill>
                </a:rPr>
                <a:t>Priority 2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913053E-6E6E-E461-1399-A493F824E6B0}"/>
              </a:ext>
            </a:extLst>
          </p:cNvPr>
          <p:cNvGrpSpPr/>
          <p:nvPr/>
        </p:nvGrpSpPr>
        <p:grpSpPr>
          <a:xfrm>
            <a:off x="4320757" y="3414822"/>
            <a:ext cx="2401228" cy="931004"/>
            <a:chOff x="497695" y="5041868"/>
            <a:chExt cx="2401228" cy="931004"/>
          </a:xfrm>
        </p:grpSpPr>
        <p:sp>
          <p:nvSpPr>
            <p:cNvPr id="237" name="Objective - Spring peak release - body">
              <a:extLst>
                <a:ext uri="{FF2B5EF4-FFF2-40B4-BE49-F238E27FC236}">
                  <a16:creationId xmlns:a16="http://schemas.microsoft.com/office/drawing/2014/main" id="{359A065C-0152-2245-C85F-B91369AD935F}"/>
                </a:ext>
              </a:extLst>
            </p:cNvPr>
            <p:cNvSpPr/>
            <p:nvPr/>
          </p:nvSpPr>
          <p:spPr>
            <a:xfrm>
              <a:off x="497696" y="5056737"/>
              <a:ext cx="2393793" cy="916135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39" name="Objective - Spring peak release - header lower edge">
              <a:extLst>
                <a:ext uri="{FF2B5EF4-FFF2-40B4-BE49-F238E27FC236}">
                  <a16:creationId xmlns:a16="http://schemas.microsoft.com/office/drawing/2014/main" id="{45C35467-6838-1939-8A60-DB010BDC8910}"/>
                </a:ext>
              </a:extLst>
            </p:cNvPr>
            <p:cNvSpPr/>
            <p:nvPr/>
          </p:nvSpPr>
          <p:spPr>
            <a:xfrm>
              <a:off x="497695" y="5187194"/>
              <a:ext cx="2401228" cy="146341"/>
            </a:xfrm>
            <a:prstGeom prst="rect">
              <a:avLst/>
            </a:prstGeom>
            <a:solidFill>
              <a:srgbClr val="B91C1C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41" name="Objective - Spring peak release - criterion text">
              <a:extLst>
                <a:ext uri="{FF2B5EF4-FFF2-40B4-BE49-F238E27FC236}">
                  <a16:creationId xmlns:a16="http://schemas.microsoft.com/office/drawing/2014/main" id="{C9C392AA-C19F-18ED-D24D-B09B6CC4B922}"/>
                </a:ext>
              </a:extLst>
            </p:cNvPr>
            <p:cNvSpPr txBox="1"/>
            <p:nvPr/>
          </p:nvSpPr>
          <p:spPr>
            <a:xfrm>
              <a:off x="516280" y="5395505"/>
              <a:ext cx="232317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Keep discharge below peak value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SJ at Archuleta ≤ 5,000 cfs</a:t>
              </a:r>
            </a:p>
            <a:p>
              <a:pPr algn="ctr"/>
              <a:r>
                <a:rPr lang="en-US" sz="1100" dirty="0">
                  <a:latin typeface="Inter"/>
                </a:rPr>
                <a:t>SJ near Bluff ≤ 12,000 cfs</a:t>
              </a:r>
            </a:p>
            <a:p>
              <a:pPr algn="ctr"/>
              <a:endParaRPr lang="en-US" sz="1100" dirty="0">
                <a:solidFill>
                  <a:srgbClr val="111827"/>
                </a:solidFill>
                <a:latin typeface="Inter"/>
              </a:endParaRPr>
            </a:p>
          </p:txBody>
        </p:sp>
        <p:sp>
          <p:nvSpPr>
            <p:cNvPr id="243" name="Objective - Spring peak release - header">
              <a:extLst>
                <a:ext uri="{FF2B5EF4-FFF2-40B4-BE49-F238E27FC236}">
                  <a16:creationId xmlns:a16="http://schemas.microsoft.com/office/drawing/2014/main" id="{77A21D99-7637-9993-D538-15EE41FDA4C3}"/>
                </a:ext>
              </a:extLst>
            </p:cNvPr>
            <p:cNvSpPr/>
            <p:nvPr/>
          </p:nvSpPr>
          <p:spPr>
            <a:xfrm>
              <a:off x="497695" y="5041868"/>
              <a:ext cx="2393794" cy="287274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Flood safety</a:t>
              </a:r>
            </a:p>
          </p:txBody>
        </p:sp>
        <p:sp>
          <p:nvSpPr>
            <p:cNvPr id="245" name="Objective - Spring peak release - priority badge">
              <a:extLst>
                <a:ext uri="{FF2B5EF4-FFF2-40B4-BE49-F238E27FC236}">
                  <a16:creationId xmlns:a16="http://schemas.microsoft.com/office/drawing/2014/main" id="{849174AA-DD65-CA3C-6689-737A48720D61}"/>
                </a:ext>
              </a:extLst>
            </p:cNvPr>
            <p:cNvSpPr/>
            <p:nvPr/>
          </p:nvSpPr>
          <p:spPr>
            <a:xfrm>
              <a:off x="2027711" y="5088790"/>
              <a:ext cx="743838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Priority 3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4AA1E36-BE61-821F-94F1-9584C6EBBD1B}"/>
              </a:ext>
            </a:extLst>
          </p:cNvPr>
          <p:cNvGrpSpPr/>
          <p:nvPr/>
        </p:nvGrpSpPr>
        <p:grpSpPr>
          <a:xfrm>
            <a:off x="264043" y="2094509"/>
            <a:ext cx="2252542" cy="931004"/>
            <a:chOff x="860943" y="2447687"/>
            <a:chExt cx="2252542" cy="931004"/>
          </a:xfrm>
        </p:grpSpPr>
        <p:sp>
          <p:nvSpPr>
            <p:cNvPr id="247" name="Objective - Spring peak release - body">
              <a:extLst>
                <a:ext uri="{FF2B5EF4-FFF2-40B4-BE49-F238E27FC236}">
                  <a16:creationId xmlns:a16="http://schemas.microsoft.com/office/drawing/2014/main" id="{969A5E29-982F-660B-B0A8-EF576EE9E0F3}"/>
                </a:ext>
              </a:extLst>
            </p:cNvPr>
            <p:cNvSpPr/>
            <p:nvPr/>
          </p:nvSpPr>
          <p:spPr>
            <a:xfrm>
              <a:off x="860944" y="2462556"/>
              <a:ext cx="2252540" cy="916135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0891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49" name="Objective - Spring peak release - header lower edge">
              <a:extLst>
                <a:ext uri="{FF2B5EF4-FFF2-40B4-BE49-F238E27FC236}">
                  <a16:creationId xmlns:a16="http://schemas.microsoft.com/office/drawing/2014/main" id="{9E1AC2DE-9C49-11BB-A766-1D06527A04AC}"/>
                </a:ext>
              </a:extLst>
            </p:cNvPr>
            <p:cNvSpPr/>
            <p:nvPr/>
          </p:nvSpPr>
          <p:spPr>
            <a:xfrm>
              <a:off x="860943" y="2593012"/>
              <a:ext cx="2252542" cy="138908"/>
            </a:xfrm>
            <a:prstGeom prst="rect">
              <a:avLst/>
            </a:prstGeom>
            <a:solidFill>
              <a:srgbClr val="0891B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51" name="Objective - Spring peak release - criterion text">
              <a:extLst>
                <a:ext uri="{FF2B5EF4-FFF2-40B4-BE49-F238E27FC236}">
                  <a16:creationId xmlns:a16="http://schemas.microsoft.com/office/drawing/2014/main" id="{3D4DB68F-D99D-4045-C3DB-B0906C816635}"/>
                </a:ext>
              </a:extLst>
            </p:cNvPr>
            <p:cNvSpPr txBox="1"/>
            <p:nvPr/>
          </p:nvSpPr>
          <p:spPr>
            <a:xfrm>
              <a:off x="864660" y="2801324"/>
              <a:ext cx="2241391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Maintain the daily minimum</a:t>
              </a:r>
            </a:p>
            <a:p>
              <a:pPr algn="ctr"/>
              <a:r>
                <a:rPr lang="en-US" sz="1100" dirty="0">
                  <a:latin typeface="Inter"/>
                </a:rPr>
                <a:t>SJ at Farmington ≥ 500 cfs</a:t>
              </a:r>
            </a:p>
          </p:txBody>
        </p:sp>
        <p:sp>
          <p:nvSpPr>
            <p:cNvPr id="253" name="Objective - Spring peak release - header">
              <a:extLst>
                <a:ext uri="{FF2B5EF4-FFF2-40B4-BE49-F238E27FC236}">
                  <a16:creationId xmlns:a16="http://schemas.microsoft.com/office/drawing/2014/main" id="{D95B418F-0ABA-5BD0-D6C4-8FA1AFFE5202}"/>
                </a:ext>
              </a:extLst>
            </p:cNvPr>
            <p:cNvSpPr/>
            <p:nvPr/>
          </p:nvSpPr>
          <p:spPr>
            <a:xfrm>
              <a:off x="860943" y="2447687"/>
              <a:ext cx="2252542" cy="282813"/>
            </a:xfrm>
            <a:prstGeom prst="roundRect">
              <a:avLst>
                <a:gd name="adj" fmla="val 50000"/>
              </a:avLst>
            </a:prstGeom>
            <a:solidFill>
              <a:srgbClr val="0891B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ESA min flow</a:t>
              </a:r>
            </a:p>
          </p:txBody>
        </p:sp>
        <p:sp>
          <p:nvSpPr>
            <p:cNvPr id="255" name="Objective - Spring peak release - priority badge">
              <a:extLst>
                <a:ext uri="{FF2B5EF4-FFF2-40B4-BE49-F238E27FC236}">
                  <a16:creationId xmlns:a16="http://schemas.microsoft.com/office/drawing/2014/main" id="{DC3489E9-5D0A-0217-B7A4-64A3DB58E7AC}"/>
                </a:ext>
              </a:extLst>
            </p:cNvPr>
            <p:cNvSpPr/>
            <p:nvPr/>
          </p:nvSpPr>
          <p:spPr>
            <a:xfrm>
              <a:off x="2114152" y="2486989"/>
              <a:ext cx="773829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0891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891B2"/>
                  </a:solidFill>
                </a:rPr>
                <a:t>Priority 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D1B1662-FD92-7F50-F865-79E0D18BCD39}"/>
              </a:ext>
            </a:extLst>
          </p:cNvPr>
          <p:cNvGrpSpPr/>
          <p:nvPr/>
        </p:nvGrpSpPr>
        <p:grpSpPr>
          <a:xfrm>
            <a:off x="126484" y="977675"/>
            <a:ext cx="2401228" cy="931004"/>
            <a:chOff x="549076" y="1568685"/>
            <a:chExt cx="2401228" cy="931004"/>
          </a:xfrm>
        </p:grpSpPr>
        <p:sp>
          <p:nvSpPr>
            <p:cNvPr id="267" name="Objective - Spring peak release - body">
              <a:extLst>
                <a:ext uri="{FF2B5EF4-FFF2-40B4-BE49-F238E27FC236}">
                  <a16:creationId xmlns:a16="http://schemas.microsoft.com/office/drawing/2014/main" id="{6D1C5CE3-6FB6-A4A1-5919-CB9220CAE1DB}"/>
                </a:ext>
              </a:extLst>
            </p:cNvPr>
            <p:cNvSpPr/>
            <p:nvPr/>
          </p:nvSpPr>
          <p:spPr>
            <a:xfrm>
              <a:off x="549078" y="1583554"/>
              <a:ext cx="2393793" cy="916135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1D4E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69" name="Objective - Spring peak release - header lower edge">
              <a:extLst>
                <a:ext uri="{FF2B5EF4-FFF2-40B4-BE49-F238E27FC236}">
                  <a16:creationId xmlns:a16="http://schemas.microsoft.com/office/drawing/2014/main" id="{E58DBCA5-9EDF-2276-FB90-C7D88216E9EE}"/>
                </a:ext>
              </a:extLst>
            </p:cNvPr>
            <p:cNvSpPr/>
            <p:nvPr/>
          </p:nvSpPr>
          <p:spPr>
            <a:xfrm>
              <a:off x="549076" y="1714011"/>
              <a:ext cx="2401228" cy="146341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71" name="Objective - Spring peak release - criterion text">
              <a:extLst>
                <a:ext uri="{FF2B5EF4-FFF2-40B4-BE49-F238E27FC236}">
                  <a16:creationId xmlns:a16="http://schemas.microsoft.com/office/drawing/2014/main" id="{1D6EB51E-8B9E-E1D3-5121-EF5E57D3F4F5}"/>
                </a:ext>
              </a:extLst>
            </p:cNvPr>
            <p:cNvSpPr txBox="1"/>
            <p:nvPr/>
          </p:nvSpPr>
          <p:spPr>
            <a:xfrm>
              <a:off x="567661" y="1922322"/>
              <a:ext cx="232317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Maintain carryover storage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Target 87.5% of maximum storage</a:t>
              </a:r>
            </a:p>
            <a:p>
              <a:pPr algn="ctr"/>
              <a:r>
                <a:rPr lang="en-US" sz="1100" dirty="0">
                  <a:latin typeface="Inter"/>
                </a:rPr>
                <a:t>98% soft upper guard</a:t>
              </a:r>
            </a:p>
          </p:txBody>
        </p:sp>
        <p:sp>
          <p:nvSpPr>
            <p:cNvPr id="273" name="Objective - Spring peak release - header">
              <a:extLst>
                <a:ext uri="{FF2B5EF4-FFF2-40B4-BE49-F238E27FC236}">
                  <a16:creationId xmlns:a16="http://schemas.microsoft.com/office/drawing/2014/main" id="{FD56ACA3-251F-4C13-5AC8-15C98D798415}"/>
                </a:ext>
              </a:extLst>
            </p:cNvPr>
            <p:cNvSpPr/>
            <p:nvPr/>
          </p:nvSpPr>
          <p:spPr>
            <a:xfrm>
              <a:off x="549076" y="1568685"/>
              <a:ext cx="2393794" cy="287274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Storage</a:t>
              </a:r>
            </a:p>
          </p:txBody>
        </p:sp>
        <p:sp>
          <p:nvSpPr>
            <p:cNvPr id="275" name="Objective - Spring peak release - priority badge">
              <a:extLst>
                <a:ext uri="{FF2B5EF4-FFF2-40B4-BE49-F238E27FC236}">
                  <a16:creationId xmlns:a16="http://schemas.microsoft.com/office/drawing/2014/main" id="{D8C0B34F-3B5F-CA33-30D3-3B28B94B308D}"/>
                </a:ext>
              </a:extLst>
            </p:cNvPr>
            <p:cNvSpPr/>
            <p:nvPr/>
          </p:nvSpPr>
          <p:spPr>
            <a:xfrm>
              <a:off x="1874196" y="1615607"/>
              <a:ext cx="848688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1D4E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1D4ED8"/>
                  </a:solidFill>
                </a:rPr>
                <a:t>Supporting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1225065-1A6E-4BBA-4390-863EB2AB11D9}"/>
              </a:ext>
            </a:extLst>
          </p:cNvPr>
          <p:cNvGrpSpPr/>
          <p:nvPr/>
        </p:nvGrpSpPr>
        <p:grpSpPr>
          <a:xfrm>
            <a:off x="352399" y="23045"/>
            <a:ext cx="2169827" cy="768800"/>
            <a:chOff x="922622" y="393250"/>
            <a:chExt cx="2169827" cy="768800"/>
          </a:xfrm>
        </p:grpSpPr>
        <p:sp>
          <p:nvSpPr>
            <p:cNvPr id="32" name="Objective - Spring peak release - body">
              <a:extLst>
                <a:ext uri="{FF2B5EF4-FFF2-40B4-BE49-F238E27FC236}">
                  <a16:creationId xmlns:a16="http://schemas.microsoft.com/office/drawing/2014/main" id="{FEBA5915-E16A-04EC-9D12-DEBBC3EE6A96}"/>
                </a:ext>
              </a:extLst>
            </p:cNvPr>
            <p:cNvSpPr/>
            <p:nvPr/>
          </p:nvSpPr>
          <p:spPr>
            <a:xfrm>
              <a:off x="922624" y="408119"/>
              <a:ext cx="2169825" cy="753931"/>
            </a:xfrm>
            <a:prstGeom prst="roundRect">
              <a:avLst/>
            </a:prstGeom>
            <a:solidFill>
              <a:srgbClr val="FFFFFF"/>
            </a:solidFill>
            <a:ln w="20320">
              <a:solidFill>
                <a:srgbClr val="1118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34" name="Objective - Spring peak release - header lower edge">
              <a:extLst>
                <a:ext uri="{FF2B5EF4-FFF2-40B4-BE49-F238E27FC236}">
                  <a16:creationId xmlns:a16="http://schemas.microsoft.com/office/drawing/2014/main" id="{BAF42520-EF77-71CA-9E36-8BAD4216EF02}"/>
                </a:ext>
              </a:extLst>
            </p:cNvPr>
            <p:cNvSpPr/>
            <p:nvPr/>
          </p:nvSpPr>
          <p:spPr>
            <a:xfrm>
              <a:off x="922622" y="538575"/>
              <a:ext cx="2163477" cy="157494"/>
            </a:xfrm>
            <a:prstGeom prst="rect">
              <a:avLst/>
            </a:prstGeom>
            <a:solidFill>
              <a:srgbClr val="111827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36" name="Objective - Spring peak release - criterion text">
              <a:extLst>
                <a:ext uri="{FF2B5EF4-FFF2-40B4-BE49-F238E27FC236}">
                  <a16:creationId xmlns:a16="http://schemas.microsoft.com/office/drawing/2014/main" id="{4951535A-C703-990E-2C79-6BA360BA9375}"/>
                </a:ext>
              </a:extLst>
            </p:cNvPr>
            <p:cNvSpPr txBox="1"/>
            <p:nvPr/>
          </p:nvSpPr>
          <p:spPr>
            <a:xfrm>
              <a:off x="941208" y="746887"/>
              <a:ext cx="2126164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11827"/>
                  </a:solidFill>
                  <a:latin typeface="Inter"/>
                </a:rPr>
                <a:t>Avoid spill</a:t>
              </a:r>
            </a:p>
            <a:p>
              <a:pPr algn="ctr"/>
              <a:r>
                <a:rPr lang="en-US" sz="1100" dirty="0">
                  <a:solidFill>
                    <a:srgbClr val="111827"/>
                  </a:solidFill>
                  <a:latin typeface="Inter"/>
                </a:rPr>
                <a:t>Spill = 0 cfs</a:t>
              </a:r>
            </a:p>
          </p:txBody>
        </p:sp>
        <p:sp>
          <p:nvSpPr>
            <p:cNvPr id="38" name="Objective - Spring peak release - header">
              <a:extLst>
                <a:ext uri="{FF2B5EF4-FFF2-40B4-BE49-F238E27FC236}">
                  <a16:creationId xmlns:a16="http://schemas.microsoft.com/office/drawing/2014/main" id="{FF502CF1-8B91-5EA3-D143-A3D8BC9FE899}"/>
                </a:ext>
              </a:extLst>
            </p:cNvPr>
            <p:cNvSpPr/>
            <p:nvPr/>
          </p:nvSpPr>
          <p:spPr>
            <a:xfrm>
              <a:off x="922623" y="393250"/>
              <a:ext cx="2167052" cy="287274"/>
            </a:xfrm>
            <a:prstGeom prst="roundRect">
              <a:avLst>
                <a:gd name="adj" fmla="val 50000"/>
              </a:avLst>
            </a:prstGeom>
            <a:solidFill>
              <a:srgbClr val="111827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2" b="1" dirty="0">
                  <a:solidFill>
                    <a:srgbClr val="FFFFFF"/>
                  </a:solidFill>
                  <a:latin typeface="Inter"/>
                </a:rPr>
                <a:t>Dam safety</a:t>
              </a:r>
            </a:p>
          </p:txBody>
        </p:sp>
        <p:sp>
          <p:nvSpPr>
            <p:cNvPr id="40" name="Objective - Spring peak release - priority badge">
              <a:extLst>
                <a:ext uri="{FF2B5EF4-FFF2-40B4-BE49-F238E27FC236}">
                  <a16:creationId xmlns:a16="http://schemas.microsoft.com/office/drawing/2014/main" id="{FF8D2986-A8D7-7714-35E2-A65E1BC6A5DD}"/>
                </a:ext>
              </a:extLst>
            </p:cNvPr>
            <p:cNvSpPr/>
            <p:nvPr/>
          </p:nvSpPr>
          <p:spPr>
            <a:xfrm>
              <a:off x="2094154" y="444261"/>
              <a:ext cx="752867" cy="20624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1118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Priority 1</a:t>
              </a:r>
            </a:p>
          </p:txBody>
        </p:sp>
      </p:grp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CB7E9E08-6E65-B89C-45B6-DDC18CD335A5}"/>
              </a:ext>
            </a:extLst>
          </p:cNvPr>
          <p:cNvCxnSpPr>
            <a:cxnSpLocks/>
          </p:cNvCxnSpPr>
          <p:nvPr/>
        </p:nvCxnSpPr>
        <p:spPr>
          <a:xfrm flipV="1">
            <a:off x="2517109" y="262432"/>
            <a:ext cx="335695" cy="886968"/>
          </a:xfrm>
          <a:prstGeom prst="bentConnector3">
            <a:avLst>
              <a:gd name="adj1" fmla="val 50000"/>
            </a:avLst>
          </a:prstGeom>
          <a:ln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15D7B0DD-16AE-2FA7-CA59-93F373E72395}"/>
              </a:ext>
            </a:extLst>
          </p:cNvPr>
          <p:cNvCxnSpPr>
            <a:cxnSpLocks/>
          </p:cNvCxnSpPr>
          <p:nvPr/>
        </p:nvCxnSpPr>
        <p:spPr>
          <a:xfrm flipV="1">
            <a:off x="2524204" y="1632372"/>
            <a:ext cx="831290" cy="640080"/>
          </a:xfrm>
          <a:prstGeom prst="bentConnector3">
            <a:avLst>
              <a:gd name="adj1" fmla="val 43889"/>
            </a:avLst>
          </a:prstGeom>
          <a:ln>
            <a:solidFill>
              <a:srgbClr val="0891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Navajo Dam - symbol">
            <a:extLst>
              <a:ext uri="{FF2B5EF4-FFF2-40B4-BE49-F238E27FC236}">
                <a16:creationId xmlns:a16="http://schemas.microsoft.com/office/drawing/2014/main" id="{ED9693F5-2F1A-2D84-A000-981308171ABE}"/>
              </a:ext>
            </a:extLst>
          </p:cNvPr>
          <p:cNvCxnSpPr>
            <a:cxnSpLocks/>
          </p:cNvCxnSpPr>
          <p:nvPr/>
        </p:nvCxnSpPr>
        <p:spPr>
          <a:xfrm>
            <a:off x="3153110" y="554939"/>
            <a:ext cx="518460" cy="0"/>
          </a:xfrm>
          <a:prstGeom prst="line">
            <a:avLst/>
          </a:prstGeom>
          <a:ln w="730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1DEC3DB4-642C-3330-56DD-8B87ADC9581F}"/>
              </a:ext>
            </a:extLst>
          </p:cNvPr>
          <p:cNvCxnSpPr>
            <a:cxnSpLocks/>
          </p:cNvCxnSpPr>
          <p:nvPr/>
        </p:nvCxnSpPr>
        <p:spPr>
          <a:xfrm rot="10800000">
            <a:off x="3662680" y="560195"/>
            <a:ext cx="731520" cy="1709928"/>
          </a:xfrm>
          <a:prstGeom prst="bentConnector3">
            <a:avLst>
              <a:gd name="adj1" fmla="val 38289"/>
            </a:avLst>
          </a:prstGeom>
          <a:ln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E4AA6B35-E6CC-B198-6B5D-B0D34C7947CD}"/>
              </a:ext>
            </a:extLst>
          </p:cNvPr>
          <p:cNvCxnSpPr>
            <a:cxnSpLocks/>
          </p:cNvCxnSpPr>
          <p:nvPr/>
        </p:nvCxnSpPr>
        <p:spPr>
          <a:xfrm rot="10800000">
            <a:off x="3486438" y="3388903"/>
            <a:ext cx="841248" cy="228600"/>
          </a:xfrm>
          <a:prstGeom prst="bentConnector3">
            <a:avLst>
              <a:gd name="adj1" fmla="val 40426"/>
            </a:avLst>
          </a:prstGeom>
          <a:ln>
            <a:solidFill>
              <a:srgbClr val="B91C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56CCA9-E602-AF07-D954-D0E7881922AD}"/>
              </a:ext>
            </a:extLst>
          </p:cNvPr>
          <p:cNvCxnSpPr>
            <a:cxnSpLocks/>
          </p:cNvCxnSpPr>
          <p:nvPr/>
        </p:nvCxnSpPr>
        <p:spPr>
          <a:xfrm flipV="1">
            <a:off x="2478336" y="3382807"/>
            <a:ext cx="868680" cy="5337"/>
          </a:xfrm>
          <a:prstGeom prst="straightConnector1">
            <a:avLst/>
          </a:prstGeom>
          <a:ln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90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1685</TotalTime>
  <Words>147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Schwenk, Jon</dc:creator>
  <cp:lastModifiedBy>Schwenk, Jon</cp:lastModifiedBy>
  <cp:revision>19</cp:revision>
  <cp:lastPrinted>2026-09-11T20:57:14Z</cp:lastPrinted>
  <dcterms:created xsi:type="dcterms:W3CDTF">2026-08-06T15:14:45Z</dcterms:created>
  <dcterms:modified xsi:type="dcterms:W3CDTF">2026-09-23T18:55:50Z</dcterms:modified>
</cp:coreProperties>
</file>